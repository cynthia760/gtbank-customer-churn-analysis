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4.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74"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A1E"/>
    <a:srgbClr val="F26A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2" d="100"/>
          <a:sy n="72" d="100"/>
        </p:scale>
        <p:origin x="6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Desktop\Customer%20Churn%20(GT%20Bank)%20COMPLETE%20%20skill%20PROJECT%203(1).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r>
              <a:rPr lang="en-US" sz="2000">
                <a:solidFill>
                  <a:schemeClr val="tx1">
                    <a:lumMod val="95000"/>
                    <a:lumOff val="5000"/>
                  </a:schemeClr>
                </a:solidFill>
              </a:rPr>
              <a:t>CHURNED</a:t>
            </a:r>
            <a:r>
              <a:rPr lang="en-US" sz="2000" baseline="0">
                <a:solidFill>
                  <a:schemeClr val="tx1">
                    <a:lumMod val="95000"/>
                    <a:lumOff val="5000"/>
                  </a:schemeClr>
                </a:solidFill>
              </a:rPr>
              <a:t> VS RETAINED</a:t>
            </a:r>
            <a:endParaRPr lang="en-US" sz="20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2">
                  <a:lumMod val="50000"/>
                </a:schemeClr>
              </a:solidFill>
              <a:ln>
                <a:noFill/>
              </a:ln>
              <a:effectLst/>
            </c:spPr>
            <c:extLst>
              <c:ext xmlns:c16="http://schemas.microsoft.com/office/drawing/2014/chart" uri="{C3380CC4-5D6E-409C-BE32-E72D297353CC}">
                <c16:uniqueId val="{00000001-4727-49E4-846B-A6C1951FC110}"/>
              </c:ext>
            </c:extLst>
          </c:dPt>
          <c:dPt>
            <c:idx val="1"/>
            <c:bubble3D val="0"/>
            <c:spPr>
              <a:solidFill>
                <a:schemeClr val="accent2"/>
              </a:solidFill>
              <a:ln>
                <a:noFill/>
              </a:ln>
              <a:effectLst/>
            </c:spPr>
            <c:extLst>
              <c:ext xmlns:c16="http://schemas.microsoft.com/office/drawing/2014/chart" uri="{C3380CC4-5D6E-409C-BE32-E72D297353CC}">
                <c16:uniqueId val="{00000003-4727-49E4-846B-A6C1951FC110}"/>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'task 2'!$C$27:$C$28</c:f>
              <c:strCache>
                <c:ptCount val="2"/>
                <c:pt idx="0">
                  <c:v>Retained</c:v>
                </c:pt>
                <c:pt idx="1">
                  <c:v>Churned</c:v>
                </c:pt>
              </c:strCache>
            </c:strRef>
          </c:cat>
          <c:val>
            <c:numRef>
              <c:f>'task 2'!$D$27:$D$28</c:f>
              <c:numCache>
                <c:formatCode>0.00%</c:formatCode>
                <c:ptCount val="2"/>
                <c:pt idx="0">
                  <c:v>0.79630000000000001</c:v>
                </c:pt>
                <c:pt idx="1">
                  <c:v>0.20369999999999999</c:v>
                </c:pt>
              </c:numCache>
            </c:numRef>
          </c:val>
          <c:extLst>
            <c:ext xmlns:c16="http://schemas.microsoft.com/office/drawing/2014/chart" uri="{C3380CC4-5D6E-409C-BE32-E72D297353CC}">
              <c16:uniqueId val="{00000004-4727-49E4-846B-A6C1951FC110}"/>
            </c:ext>
          </c:extLst>
        </c:ser>
        <c:dLbls>
          <c:showLegendKey val="0"/>
          <c:showVal val="0"/>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r>
              <a:rPr lang="en-US" sz="1800">
                <a:solidFill>
                  <a:schemeClr val="tx1">
                    <a:lumMod val="95000"/>
                    <a:lumOff val="5000"/>
                  </a:schemeClr>
                </a:solidFill>
              </a:rPr>
              <a:t>CHURN</a:t>
            </a:r>
            <a:r>
              <a:rPr lang="en-US" sz="1800" baseline="0">
                <a:solidFill>
                  <a:schemeClr val="tx1">
                    <a:lumMod val="95000"/>
                    <a:lumOff val="5000"/>
                  </a:schemeClr>
                </a:solidFill>
              </a:rPr>
              <a:t> BY AGE GROUP</a:t>
            </a:r>
            <a:endParaRPr lang="en-US" sz="18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2'!$E$13:$E$17</c:f>
              <c:strCache>
                <c:ptCount val="5"/>
                <c:pt idx="0">
                  <c:v>Middle-Aged</c:v>
                </c:pt>
                <c:pt idx="1">
                  <c:v>Early Middle-Aged</c:v>
                </c:pt>
                <c:pt idx="2">
                  <c:v>Senior</c:v>
                </c:pt>
                <c:pt idx="3">
                  <c:v>Young</c:v>
                </c:pt>
                <c:pt idx="4">
                  <c:v>Elderly</c:v>
                </c:pt>
              </c:strCache>
            </c:strRef>
          </c:cat>
          <c:val>
            <c:numRef>
              <c:f>'task 2'!$F$13:$F$17</c:f>
              <c:numCache>
                <c:formatCode>0.00%</c:formatCode>
                <c:ptCount val="5"/>
                <c:pt idx="0">
                  <c:v>0.49448732083792724</c:v>
                </c:pt>
                <c:pt idx="1">
                  <c:v>0.14437614221631501</c:v>
                </c:pt>
                <c:pt idx="2">
                  <c:v>0.30932203389830509</c:v>
                </c:pt>
                <c:pt idx="3">
                  <c:v>7.5563680682510667E-2</c:v>
                </c:pt>
                <c:pt idx="4">
                  <c:v>1.8518518518518517E-2</c:v>
                </c:pt>
              </c:numCache>
            </c:numRef>
          </c:val>
          <c:extLst>
            <c:ext xmlns:c16="http://schemas.microsoft.com/office/drawing/2014/chart" uri="{C3380CC4-5D6E-409C-BE32-E72D297353CC}">
              <c16:uniqueId val="{00000000-4BB0-4A9A-9593-4DCDE2C308CE}"/>
            </c:ext>
          </c:extLst>
        </c:ser>
        <c:dLbls>
          <c:showLegendKey val="0"/>
          <c:showVal val="0"/>
          <c:showCatName val="0"/>
          <c:showSerName val="0"/>
          <c:showPercent val="0"/>
          <c:showBubbleSize val="0"/>
        </c:dLbls>
        <c:gapWidth val="219"/>
        <c:overlap val="-27"/>
        <c:axId val="871467967"/>
        <c:axId val="871482111"/>
      </c:barChart>
      <c:catAx>
        <c:axId val="871467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95000"/>
                    <a:lumOff val="5000"/>
                  </a:schemeClr>
                </a:solidFill>
                <a:latin typeface="+mn-lt"/>
                <a:ea typeface="+mn-ea"/>
                <a:cs typeface="+mn-cs"/>
              </a:defRPr>
            </a:pPr>
            <a:endParaRPr lang="en-US"/>
          </a:p>
        </c:txPr>
        <c:crossAx val="871482111"/>
        <c:crosses val="autoZero"/>
        <c:auto val="1"/>
        <c:lblAlgn val="ctr"/>
        <c:lblOffset val="100"/>
        <c:noMultiLvlLbl val="0"/>
      </c:catAx>
      <c:valAx>
        <c:axId val="871482111"/>
        <c:scaling>
          <c:orientation val="minMax"/>
        </c:scaling>
        <c:delete val="1"/>
        <c:axPos val="l"/>
        <c:numFmt formatCode="0.00%" sourceLinked="1"/>
        <c:majorTickMark val="none"/>
        <c:minorTickMark val="none"/>
        <c:tickLblPos val="nextTo"/>
        <c:crossAx val="8714679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r>
              <a:rPr lang="en-US" sz="2000">
                <a:solidFill>
                  <a:schemeClr val="tx1">
                    <a:lumMod val="95000"/>
                    <a:lumOff val="5000"/>
                  </a:schemeClr>
                </a:solidFill>
              </a:rPr>
              <a:t>CHURN</a:t>
            </a:r>
            <a:r>
              <a:rPr lang="en-US" sz="2000" baseline="0">
                <a:solidFill>
                  <a:schemeClr val="tx1">
                    <a:lumMod val="95000"/>
                    <a:lumOff val="5000"/>
                  </a:schemeClr>
                </a:solidFill>
              </a:rPr>
              <a:t> BY GENDER</a:t>
            </a:r>
            <a:endParaRPr lang="en-US" sz="20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2'!$E$5:$E$6</c:f>
              <c:strCache>
                <c:ptCount val="2"/>
                <c:pt idx="0">
                  <c:v>Female</c:v>
                </c:pt>
                <c:pt idx="1">
                  <c:v>Male</c:v>
                </c:pt>
              </c:strCache>
            </c:strRef>
          </c:cat>
          <c:val>
            <c:numRef>
              <c:f>'task 2'!$F$5:$F$6</c:f>
              <c:numCache>
                <c:formatCode>0.00%</c:formatCode>
                <c:ptCount val="2"/>
                <c:pt idx="0">
                  <c:v>0.25071538630860662</c:v>
                </c:pt>
                <c:pt idx="1">
                  <c:v>0.16455928165658787</c:v>
                </c:pt>
              </c:numCache>
            </c:numRef>
          </c:val>
          <c:extLst>
            <c:ext xmlns:c16="http://schemas.microsoft.com/office/drawing/2014/chart" uri="{C3380CC4-5D6E-409C-BE32-E72D297353CC}">
              <c16:uniqueId val="{00000000-0D57-4CE4-96D3-FF2832B0F89D}"/>
            </c:ext>
          </c:extLst>
        </c:ser>
        <c:dLbls>
          <c:showLegendKey val="0"/>
          <c:showVal val="0"/>
          <c:showCatName val="0"/>
          <c:showSerName val="0"/>
          <c:showPercent val="0"/>
          <c:showBubbleSize val="0"/>
        </c:dLbls>
        <c:gapWidth val="219"/>
        <c:overlap val="-27"/>
        <c:axId val="871490431"/>
        <c:axId val="871470463"/>
      </c:barChart>
      <c:catAx>
        <c:axId val="871490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95000"/>
                    <a:lumOff val="5000"/>
                  </a:schemeClr>
                </a:solidFill>
                <a:latin typeface="+mn-lt"/>
                <a:ea typeface="+mn-ea"/>
                <a:cs typeface="+mn-cs"/>
              </a:defRPr>
            </a:pPr>
            <a:endParaRPr lang="en-US"/>
          </a:p>
        </c:txPr>
        <c:crossAx val="871470463"/>
        <c:crosses val="autoZero"/>
        <c:auto val="1"/>
        <c:lblAlgn val="ctr"/>
        <c:lblOffset val="100"/>
        <c:noMultiLvlLbl val="0"/>
      </c:catAx>
      <c:valAx>
        <c:axId val="871470463"/>
        <c:scaling>
          <c:orientation val="minMax"/>
        </c:scaling>
        <c:delete val="1"/>
        <c:axPos val="l"/>
        <c:numFmt formatCode="0.00%" sourceLinked="1"/>
        <c:majorTickMark val="none"/>
        <c:minorTickMark val="none"/>
        <c:tickLblPos val="nextTo"/>
        <c:crossAx val="87149043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CHURN</a:t>
            </a:r>
            <a:r>
              <a:rPr lang="en-US" baseline="0"/>
              <a:t> BY ACTIVE MEMBERSHIP</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01-9D37-42A1-861E-CA14A0D97713}"/>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D37-42A1-861E-CA14A0D97713}"/>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'task 5'!$E$13:$E$14</c:f>
              <c:strCache>
                <c:ptCount val="2"/>
                <c:pt idx="0">
                  <c:v>Inactive</c:v>
                </c:pt>
                <c:pt idx="1">
                  <c:v>Active</c:v>
                </c:pt>
              </c:strCache>
            </c:strRef>
          </c:cat>
          <c:val>
            <c:numRef>
              <c:f>'task 5'!$F$13:$F$14</c:f>
              <c:numCache>
                <c:formatCode>0.00%</c:formatCode>
                <c:ptCount val="2"/>
                <c:pt idx="0">
                  <c:v>0.26850897092183956</c:v>
                </c:pt>
                <c:pt idx="1">
                  <c:v>0.14269073966220153</c:v>
                </c:pt>
              </c:numCache>
            </c:numRef>
          </c:val>
          <c:extLst>
            <c:ext xmlns:c16="http://schemas.microsoft.com/office/drawing/2014/chart" uri="{C3380CC4-5D6E-409C-BE32-E72D297353CC}">
              <c16:uniqueId val="{00000004-9D37-42A1-861E-CA14A0D97713}"/>
            </c:ext>
          </c:extLst>
        </c:ser>
        <c:dLbls>
          <c:showLegendKey val="0"/>
          <c:showVal val="0"/>
          <c:showCatName val="0"/>
          <c:showSerName val="0"/>
          <c:showPercent val="0"/>
          <c:showBubbleSize val="0"/>
          <c:showLeaderLines val="1"/>
        </c:dLbls>
        <c:firstSliceAng val="0"/>
        <c:holeSize val="43"/>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r>
              <a:rPr lang="en-US" sz="1800">
                <a:solidFill>
                  <a:schemeClr val="tx1">
                    <a:lumMod val="95000"/>
                    <a:lumOff val="5000"/>
                  </a:schemeClr>
                </a:solidFill>
              </a:rPr>
              <a:t>CHURN</a:t>
            </a:r>
            <a:r>
              <a:rPr lang="en-US" sz="1800" baseline="0">
                <a:solidFill>
                  <a:schemeClr val="tx1">
                    <a:lumMod val="95000"/>
                    <a:lumOff val="5000"/>
                  </a:schemeClr>
                </a:solidFill>
              </a:rPr>
              <a:t> BY NUMBER OF PRODUCT</a:t>
            </a:r>
            <a:endParaRPr lang="en-US" sz="18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5'!$E$28:$E$31</c:f>
              <c:strCache>
                <c:ptCount val="4"/>
                <c:pt idx="0">
                  <c:v>Four products</c:v>
                </c:pt>
                <c:pt idx="1">
                  <c:v>Three products</c:v>
                </c:pt>
                <c:pt idx="2">
                  <c:v>Two products</c:v>
                </c:pt>
                <c:pt idx="3">
                  <c:v>One product</c:v>
                </c:pt>
              </c:strCache>
            </c:strRef>
          </c:cat>
          <c:val>
            <c:numRef>
              <c:f>'task 5'!$F$28:$F$31</c:f>
              <c:numCache>
                <c:formatCode>0.00%</c:formatCode>
                <c:ptCount val="4"/>
                <c:pt idx="0">
                  <c:v>1</c:v>
                </c:pt>
                <c:pt idx="1">
                  <c:v>0.82706766917293228</c:v>
                </c:pt>
                <c:pt idx="2">
                  <c:v>7.5816993464052282E-2</c:v>
                </c:pt>
                <c:pt idx="3">
                  <c:v>0.27714398111723054</c:v>
                </c:pt>
              </c:numCache>
            </c:numRef>
          </c:val>
          <c:extLst>
            <c:ext xmlns:c16="http://schemas.microsoft.com/office/drawing/2014/chart" uri="{C3380CC4-5D6E-409C-BE32-E72D297353CC}">
              <c16:uniqueId val="{00000000-802F-4AB7-815C-306F27E1138E}"/>
            </c:ext>
          </c:extLst>
        </c:ser>
        <c:dLbls>
          <c:showLegendKey val="0"/>
          <c:showVal val="0"/>
          <c:showCatName val="0"/>
          <c:showSerName val="0"/>
          <c:showPercent val="0"/>
          <c:showBubbleSize val="0"/>
        </c:dLbls>
        <c:gapWidth val="219"/>
        <c:overlap val="-27"/>
        <c:axId val="1461310607"/>
        <c:axId val="1461309775"/>
      </c:barChart>
      <c:catAx>
        <c:axId val="14613106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95000"/>
                    <a:lumOff val="5000"/>
                  </a:schemeClr>
                </a:solidFill>
                <a:latin typeface="+mn-lt"/>
                <a:ea typeface="+mn-ea"/>
                <a:cs typeface="+mn-cs"/>
              </a:defRPr>
            </a:pPr>
            <a:endParaRPr lang="en-US"/>
          </a:p>
        </c:txPr>
        <c:crossAx val="1461309775"/>
        <c:crosses val="autoZero"/>
        <c:auto val="1"/>
        <c:lblAlgn val="ctr"/>
        <c:lblOffset val="100"/>
        <c:noMultiLvlLbl val="0"/>
      </c:catAx>
      <c:valAx>
        <c:axId val="1461309775"/>
        <c:scaling>
          <c:orientation val="minMax"/>
        </c:scaling>
        <c:delete val="1"/>
        <c:axPos val="l"/>
        <c:numFmt formatCode="0.00%" sourceLinked="1"/>
        <c:majorTickMark val="none"/>
        <c:minorTickMark val="none"/>
        <c:tickLblPos val="nextTo"/>
        <c:crossAx val="146131060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CHURN</a:t>
            </a:r>
            <a:r>
              <a:rPr lang="en-US" sz="1800" baseline="0"/>
              <a:t> BY ACCOUNT BALANCE</a:t>
            </a:r>
            <a:endParaRPr lang="en-US"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3'!$E$5:$E$10</c:f>
              <c:strCache>
                <c:ptCount val="6"/>
                <c:pt idx="0">
                  <c:v>Above ₦200K</c:v>
                </c:pt>
                <c:pt idx="1">
                  <c:v>₦1K-₦50K</c:v>
                </c:pt>
                <c:pt idx="2">
                  <c:v>₦150K-₦200K</c:v>
                </c:pt>
                <c:pt idx="3">
                  <c:v>₦50K-₦100K</c:v>
                </c:pt>
                <c:pt idx="4">
                  <c:v>₦0K</c:v>
                </c:pt>
                <c:pt idx="5">
                  <c:v>₦100K-₦150K</c:v>
                </c:pt>
              </c:strCache>
            </c:strRef>
          </c:cat>
          <c:val>
            <c:numRef>
              <c:f>'task 3'!$F$5:$F$10</c:f>
              <c:numCache>
                <c:formatCode>0.00%</c:formatCode>
                <c:ptCount val="6"/>
                <c:pt idx="0">
                  <c:v>0.55882352941176472</c:v>
                </c:pt>
                <c:pt idx="1">
                  <c:v>0.34666666666666668</c:v>
                </c:pt>
                <c:pt idx="2">
                  <c:v>0.21925133689839571</c:v>
                </c:pt>
                <c:pt idx="3">
                  <c:v>0.19880715705765409</c:v>
                </c:pt>
                <c:pt idx="4">
                  <c:v>0.13823610727121924</c:v>
                </c:pt>
                <c:pt idx="5">
                  <c:v>0.25770234986945167</c:v>
                </c:pt>
              </c:numCache>
            </c:numRef>
          </c:val>
          <c:extLst>
            <c:ext xmlns:c16="http://schemas.microsoft.com/office/drawing/2014/chart" uri="{C3380CC4-5D6E-409C-BE32-E72D297353CC}">
              <c16:uniqueId val="{00000000-D8BF-4A9F-9C2F-BAC693420655}"/>
            </c:ext>
          </c:extLst>
        </c:ser>
        <c:dLbls>
          <c:showLegendKey val="0"/>
          <c:showVal val="0"/>
          <c:showCatName val="0"/>
          <c:showSerName val="0"/>
          <c:showPercent val="0"/>
          <c:showBubbleSize val="0"/>
        </c:dLbls>
        <c:gapWidth val="219"/>
        <c:overlap val="-27"/>
        <c:axId val="871452159"/>
        <c:axId val="871461311"/>
      </c:barChart>
      <c:catAx>
        <c:axId val="871452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95000"/>
                    <a:lumOff val="5000"/>
                  </a:schemeClr>
                </a:solidFill>
                <a:latin typeface="+mn-lt"/>
                <a:ea typeface="+mn-ea"/>
                <a:cs typeface="+mn-cs"/>
              </a:defRPr>
            </a:pPr>
            <a:endParaRPr lang="en-US"/>
          </a:p>
        </c:txPr>
        <c:crossAx val="871461311"/>
        <c:crosses val="autoZero"/>
        <c:auto val="1"/>
        <c:lblAlgn val="ctr"/>
        <c:lblOffset val="100"/>
        <c:noMultiLvlLbl val="0"/>
      </c:catAx>
      <c:valAx>
        <c:axId val="871461311"/>
        <c:scaling>
          <c:orientation val="minMax"/>
        </c:scaling>
        <c:delete val="1"/>
        <c:axPos val="l"/>
        <c:numFmt formatCode="0.00%" sourceLinked="1"/>
        <c:majorTickMark val="none"/>
        <c:minorTickMark val="none"/>
        <c:tickLblPos val="nextTo"/>
        <c:crossAx val="87145215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95000"/>
                    <a:lumOff val="5000"/>
                  </a:schemeClr>
                </a:solidFill>
                <a:latin typeface="+mn-lt"/>
                <a:ea typeface="+mn-ea"/>
                <a:cs typeface="+mn-cs"/>
              </a:defRPr>
            </a:pPr>
            <a:r>
              <a:rPr lang="en-US" sz="1600">
                <a:solidFill>
                  <a:schemeClr val="tx1">
                    <a:lumMod val="95000"/>
                    <a:lumOff val="5000"/>
                  </a:schemeClr>
                </a:solidFill>
              </a:rPr>
              <a:t>CHURN</a:t>
            </a:r>
            <a:r>
              <a:rPr lang="en-US" sz="1600" baseline="0">
                <a:solidFill>
                  <a:schemeClr val="tx1">
                    <a:lumMod val="95000"/>
                    <a:lumOff val="5000"/>
                  </a:schemeClr>
                </a:solidFill>
              </a:rPr>
              <a:t> BY LOCATION</a:t>
            </a:r>
            <a:endParaRPr lang="en-US" sz="16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1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4'!$E$5:$E$9</c:f>
              <c:strCache>
                <c:ptCount val="5"/>
                <c:pt idx="0">
                  <c:v>Abuja</c:v>
                </c:pt>
                <c:pt idx="1">
                  <c:v>Enugu</c:v>
                </c:pt>
                <c:pt idx="2">
                  <c:v>Ibadan</c:v>
                </c:pt>
                <c:pt idx="3">
                  <c:v>Lagos</c:v>
                </c:pt>
                <c:pt idx="4">
                  <c:v>Port Harcourt</c:v>
                </c:pt>
              </c:strCache>
            </c:strRef>
          </c:cat>
          <c:val>
            <c:numRef>
              <c:f>'task 4'!$F$5:$F$9</c:f>
              <c:numCache>
                <c:formatCode>0.00%</c:formatCode>
                <c:ptCount val="5"/>
                <c:pt idx="0">
                  <c:v>0.19918283963227784</c:v>
                </c:pt>
                <c:pt idx="1">
                  <c:v>0.19746192893401016</c:v>
                </c:pt>
                <c:pt idx="2">
                  <c:v>0.18874332848131975</c:v>
                </c:pt>
                <c:pt idx="3">
                  <c:v>0.21345029239766081</c:v>
                </c:pt>
                <c:pt idx="4">
                  <c:v>0.22001020929045431</c:v>
                </c:pt>
              </c:numCache>
            </c:numRef>
          </c:val>
          <c:extLst>
            <c:ext xmlns:c16="http://schemas.microsoft.com/office/drawing/2014/chart" uri="{C3380CC4-5D6E-409C-BE32-E72D297353CC}">
              <c16:uniqueId val="{00000000-6583-45A7-A363-053FFECD0189}"/>
            </c:ext>
          </c:extLst>
        </c:ser>
        <c:dLbls>
          <c:showLegendKey val="0"/>
          <c:showVal val="0"/>
          <c:showCatName val="0"/>
          <c:showSerName val="0"/>
          <c:showPercent val="0"/>
          <c:showBubbleSize val="0"/>
        </c:dLbls>
        <c:gapWidth val="219"/>
        <c:overlap val="-27"/>
        <c:axId val="789729951"/>
        <c:axId val="789721631"/>
      </c:barChart>
      <c:catAx>
        <c:axId val="7897299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95000"/>
                    <a:lumOff val="5000"/>
                  </a:schemeClr>
                </a:solidFill>
                <a:latin typeface="+mn-lt"/>
                <a:ea typeface="+mn-ea"/>
                <a:cs typeface="+mn-cs"/>
              </a:defRPr>
            </a:pPr>
            <a:endParaRPr lang="en-US"/>
          </a:p>
        </c:txPr>
        <c:crossAx val="789721631"/>
        <c:crosses val="autoZero"/>
        <c:auto val="1"/>
        <c:lblAlgn val="ctr"/>
        <c:lblOffset val="100"/>
        <c:noMultiLvlLbl val="0"/>
      </c:catAx>
      <c:valAx>
        <c:axId val="789721631"/>
        <c:scaling>
          <c:orientation val="minMax"/>
        </c:scaling>
        <c:delete val="1"/>
        <c:axPos val="l"/>
        <c:numFmt formatCode="0.00%" sourceLinked="1"/>
        <c:majorTickMark val="none"/>
        <c:minorTickMark val="none"/>
        <c:tickLblPos val="nextTo"/>
        <c:crossAx val="789729951"/>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r>
              <a:rPr lang="en-US" sz="1800">
                <a:solidFill>
                  <a:schemeClr val="tx1">
                    <a:lumMod val="95000"/>
                    <a:lumOff val="5000"/>
                  </a:schemeClr>
                </a:solidFill>
              </a:rPr>
              <a:t>CHURN</a:t>
            </a:r>
            <a:r>
              <a:rPr lang="en-US" sz="1800" baseline="0">
                <a:solidFill>
                  <a:schemeClr val="tx1">
                    <a:lumMod val="95000"/>
                    <a:lumOff val="5000"/>
                  </a:schemeClr>
                </a:solidFill>
              </a:rPr>
              <a:t> BY TENURE</a:t>
            </a:r>
            <a:endParaRPr lang="en-US" sz="1800">
              <a:solidFill>
                <a:schemeClr val="tx1">
                  <a:lumMod val="95000"/>
                  <a:lumOff val="5000"/>
                </a:schemeClr>
              </a:solidFill>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1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3'!$E$17:$E$20</c:f>
              <c:strCache>
                <c:ptCount val="4"/>
                <c:pt idx="0">
                  <c:v>9-10 Years</c:v>
                </c:pt>
                <c:pt idx="1">
                  <c:v>0-2 Years</c:v>
                </c:pt>
                <c:pt idx="2">
                  <c:v>6-8 Years</c:v>
                </c:pt>
                <c:pt idx="3">
                  <c:v>3-5 Years</c:v>
                </c:pt>
              </c:strCache>
            </c:strRef>
          </c:cat>
          <c:val>
            <c:numRef>
              <c:f>'task 3'!$F$17:$F$20</c:f>
              <c:numCache>
                <c:formatCode>0.00%</c:formatCode>
                <c:ptCount val="4"/>
                <c:pt idx="0">
                  <c:v>0.2130257801899593</c:v>
                </c:pt>
                <c:pt idx="1">
                  <c:v>0.21153846153846154</c:v>
                </c:pt>
                <c:pt idx="2">
                  <c:v>0.18874172185430463</c:v>
                </c:pt>
                <c:pt idx="3">
                  <c:v>0.20764119601328904</c:v>
                </c:pt>
              </c:numCache>
            </c:numRef>
          </c:val>
          <c:extLst>
            <c:ext xmlns:c16="http://schemas.microsoft.com/office/drawing/2014/chart" uri="{C3380CC4-5D6E-409C-BE32-E72D297353CC}">
              <c16:uniqueId val="{00000000-A5CC-4937-98D0-48B3785FBA6C}"/>
            </c:ext>
          </c:extLst>
        </c:ser>
        <c:dLbls>
          <c:showLegendKey val="0"/>
          <c:showVal val="0"/>
          <c:showCatName val="0"/>
          <c:showSerName val="0"/>
          <c:showPercent val="0"/>
          <c:showBubbleSize val="0"/>
        </c:dLbls>
        <c:gapWidth val="219"/>
        <c:overlap val="-27"/>
        <c:axId val="871506239"/>
        <c:axId val="871495007"/>
      </c:barChart>
      <c:catAx>
        <c:axId val="8715062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95000"/>
                    <a:lumOff val="5000"/>
                  </a:schemeClr>
                </a:solidFill>
                <a:latin typeface="+mn-lt"/>
                <a:ea typeface="+mn-ea"/>
                <a:cs typeface="+mn-cs"/>
              </a:defRPr>
            </a:pPr>
            <a:endParaRPr lang="en-US"/>
          </a:p>
        </c:txPr>
        <c:crossAx val="871495007"/>
        <c:crosses val="autoZero"/>
        <c:auto val="1"/>
        <c:lblAlgn val="ctr"/>
        <c:lblOffset val="100"/>
        <c:noMultiLvlLbl val="0"/>
      </c:catAx>
      <c:valAx>
        <c:axId val="871495007"/>
        <c:scaling>
          <c:orientation val="minMax"/>
        </c:scaling>
        <c:delete val="1"/>
        <c:axPos val="l"/>
        <c:numFmt formatCode="0.00%" sourceLinked="1"/>
        <c:majorTickMark val="none"/>
        <c:minorTickMark val="none"/>
        <c:tickLblPos val="nextTo"/>
        <c:crossAx val="87150623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CHURN</a:t>
            </a:r>
            <a:r>
              <a:rPr lang="en-US" sz="1800" baseline="0"/>
              <a:t> BY CREDIT CARD </a:t>
            </a:r>
            <a:endParaRPr lang="en-US"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dPt>
            <c:idx val="0"/>
            <c:bubble3D val="0"/>
            <c:spPr>
              <a:solidFill>
                <a:schemeClr val="accent2">
                  <a:lumMod val="50000"/>
                </a:schemeClr>
              </a:solidFill>
              <a:ln w="19050">
                <a:solidFill>
                  <a:schemeClr val="lt1"/>
                </a:solidFill>
              </a:ln>
              <a:effectLst/>
            </c:spPr>
            <c:extLst>
              <c:ext xmlns:c16="http://schemas.microsoft.com/office/drawing/2014/chart" uri="{C3380CC4-5D6E-409C-BE32-E72D297353CC}">
                <c16:uniqueId val="{00000001-B2A7-4DE5-A837-BDEBBAB7969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2A7-4DE5-A837-BDEBBAB7969B}"/>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2A7-4DE5-A837-BDEBBAB7969B}"/>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2A7-4DE5-A837-BDEBBAB7969B}"/>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lumMod val="9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'task 5'!$E$5:$E$6</c:f>
              <c:strCache>
                <c:ptCount val="2"/>
                <c:pt idx="0">
                  <c:v>No Credit Card</c:v>
                </c:pt>
                <c:pt idx="1">
                  <c:v>Has Credit Card</c:v>
                </c:pt>
              </c:strCache>
            </c:strRef>
          </c:cat>
          <c:val>
            <c:numRef>
              <c:f>'task 5'!$F$5:$F$6</c:f>
              <c:numCache>
                <c:formatCode>0.00%</c:formatCode>
                <c:ptCount val="2"/>
                <c:pt idx="0">
                  <c:v>0.20814940577249574</c:v>
                </c:pt>
                <c:pt idx="1">
                  <c:v>0.20184266477675408</c:v>
                </c:pt>
              </c:numCache>
            </c:numRef>
          </c:val>
          <c:extLst>
            <c:ext xmlns:c16="http://schemas.microsoft.com/office/drawing/2014/chart" uri="{C3380CC4-5D6E-409C-BE32-E72D297353CC}">
              <c16:uniqueId val="{00000004-B2A7-4DE5-A837-BDEBBAB7969B}"/>
            </c:ext>
          </c:extLst>
        </c:ser>
        <c:dLbls>
          <c:showLegendKey val="0"/>
          <c:showVal val="0"/>
          <c:showCatName val="0"/>
          <c:showSerName val="0"/>
          <c:showPercent val="0"/>
          <c:showBubbleSize val="0"/>
          <c:showLeaderLines val="1"/>
        </c:dLbls>
        <c:firstSliceAng val="0"/>
        <c:holeSize val="47"/>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a:t>CHURN</a:t>
            </a:r>
            <a:r>
              <a:rPr lang="en-US" sz="1800" baseline="0"/>
              <a:t> BY CUSTOMER LIFETIME</a:t>
            </a:r>
            <a:endParaRPr lang="en-US" sz="180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4'!$E$16:$E$18</c:f>
              <c:strCache>
                <c:ptCount val="3"/>
                <c:pt idx="0">
                  <c:v>New</c:v>
                </c:pt>
                <c:pt idx="1">
                  <c:v>Mid-Term</c:v>
                </c:pt>
                <c:pt idx="2">
                  <c:v>Long-Term</c:v>
                </c:pt>
              </c:strCache>
            </c:strRef>
          </c:cat>
          <c:val>
            <c:numRef>
              <c:f>'task 4'!$F$16:$F$18</c:f>
              <c:numCache>
                <c:formatCode>0.00%</c:formatCode>
                <c:ptCount val="3"/>
                <c:pt idx="0">
                  <c:v>0.21153846153846154</c:v>
                </c:pt>
                <c:pt idx="1">
                  <c:v>0.20764119601328904</c:v>
                </c:pt>
                <c:pt idx="2">
                  <c:v>0.19670672007120604</c:v>
                </c:pt>
              </c:numCache>
            </c:numRef>
          </c:val>
          <c:extLst>
            <c:ext xmlns:c16="http://schemas.microsoft.com/office/drawing/2014/chart" uri="{C3380CC4-5D6E-409C-BE32-E72D297353CC}">
              <c16:uniqueId val="{00000000-F6B3-4B74-8C17-B0F25CD5B0FC}"/>
            </c:ext>
          </c:extLst>
        </c:ser>
        <c:dLbls>
          <c:showLegendKey val="0"/>
          <c:showVal val="0"/>
          <c:showCatName val="0"/>
          <c:showSerName val="0"/>
          <c:showPercent val="0"/>
          <c:showBubbleSize val="0"/>
        </c:dLbls>
        <c:gapWidth val="219"/>
        <c:overlap val="-27"/>
        <c:axId val="852094319"/>
        <c:axId val="852081007"/>
      </c:barChart>
      <c:catAx>
        <c:axId val="8520943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852081007"/>
        <c:crosses val="autoZero"/>
        <c:auto val="1"/>
        <c:lblAlgn val="ctr"/>
        <c:lblOffset val="100"/>
        <c:noMultiLvlLbl val="0"/>
      </c:catAx>
      <c:valAx>
        <c:axId val="852081007"/>
        <c:scaling>
          <c:orientation val="minMax"/>
        </c:scaling>
        <c:delete val="1"/>
        <c:axPos val="l"/>
        <c:numFmt formatCode="0.00%" sourceLinked="1"/>
        <c:majorTickMark val="none"/>
        <c:minorTickMark val="none"/>
        <c:tickLblPos val="nextTo"/>
        <c:crossAx val="85209431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r>
              <a:rPr lang="en-US" sz="2000">
                <a:solidFill>
                  <a:schemeClr val="tx1">
                    <a:lumMod val="95000"/>
                    <a:lumOff val="5000"/>
                  </a:schemeClr>
                </a:solidFill>
              </a:rPr>
              <a:t>CHURN</a:t>
            </a:r>
            <a:r>
              <a:rPr lang="en-US" sz="2000" baseline="0">
                <a:solidFill>
                  <a:schemeClr val="tx1">
                    <a:lumMod val="95000"/>
                    <a:lumOff val="5000"/>
                  </a:schemeClr>
                </a:solidFill>
              </a:rPr>
              <a:t> RATE ACROSS HIGH RISK CUSTOMER GROUP</a:t>
            </a:r>
          </a:p>
        </c:rich>
      </c:tx>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95000"/>
                  <a:lumOff val="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rgbClr val="F26A2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'task 2'!$B$42:$B$48</c:f>
              <c:strCache>
                <c:ptCount val="7"/>
                <c:pt idx="0">
                  <c:v>Over all baseline</c:v>
                </c:pt>
                <c:pt idx="1">
                  <c:v>Female</c:v>
                </c:pt>
                <c:pt idx="2">
                  <c:v>Middle-Aged</c:v>
                </c:pt>
                <c:pt idx="3">
                  <c:v>Inactive</c:v>
                </c:pt>
                <c:pt idx="4">
                  <c:v>One product</c:v>
                </c:pt>
                <c:pt idx="5">
                  <c:v>Three products</c:v>
                </c:pt>
                <c:pt idx="6">
                  <c:v>Senior</c:v>
                </c:pt>
              </c:strCache>
            </c:strRef>
          </c:cat>
          <c:val>
            <c:numRef>
              <c:f>'task 2'!$C$42:$C$48</c:f>
              <c:numCache>
                <c:formatCode>0.00%</c:formatCode>
                <c:ptCount val="7"/>
                <c:pt idx="0">
                  <c:v>0.20369999999999999</c:v>
                </c:pt>
                <c:pt idx="1">
                  <c:v>0.25071538630860662</c:v>
                </c:pt>
                <c:pt idx="2">
                  <c:v>0.49448732083792724</c:v>
                </c:pt>
                <c:pt idx="3">
                  <c:v>0.26850897092183956</c:v>
                </c:pt>
                <c:pt idx="4">
                  <c:v>0.72285601888276951</c:v>
                </c:pt>
                <c:pt idx="5">
                  <c:v>0.82706766917293228</c:v>
                </c:pt>
                <c:pt idx="6">
                  <c:v>0.30932203389830509</c:v>
                </c:pt>
              </c:numCache>
            </c:numRef>
          </c:val>
          <c:extLst>
            <c:ext xmlns:c16="http://schemas.microsoft.com/office/drawing/2014/chart" uri="{C3380CC4-5D6E-409C-BE32-E72D297353CC}">
              <c16:uniqueId val="{00000000-CE64-48A7-84D4-79C71DF9CDF9}"/>
            </c:ext>
          </c:extLst>
        </c:ser>
        <c:dLbls>
          <c:showLegendKey val="0"/>
          <c:showVal val="0"/>
          <c:showCatName val="0"/>
          <c:showSerName val="0"/>
          <c:showPercent val="0"/>
          <c:showBubbleSize val="0"/>
        </c:dLbls>
        <c:gapWidth val="182"/>
        <c:axId val="1072740464"/>
        <c:axId val="1072734224"/>
      </c:barChart>
      <c:catAx>
        <c:axId val="10727404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95000"/>
                    <a:lumOff val="5000"/>
                  </a:schemeClr>
                </a:solidFill>
                <a:latin typeface="+mn-lt"/>
                <a:ea typeface="+mn-ea"/>
                <a:cs typeface="+mn-cs"/>
              </a:defRPr>
            </a:pPr>
            <a:endParaRPr lang="en-US"/>
          </a:p>
        </c:txPr>
        <c:crossAx val="1072734224"/>
        <c:crosses val="autoZero"/>
        <c:auto val="1"/>
        <c:lblAlgn val="ctr"/>
        <c:lblOffset val="100"/>
        <c:noMultiLvlLbl val="0"/>
      </c:catAx>
      <c:valAx>
        <c:axId val="1072734224"/>
        <c:scaling>
          <c:orientation val="minMax"/>
        </c:scaling>
        <c:delete val="1"/>
        <c:axPos val="b"/>
        <c:numFmt formatCode="0.00%" sourceLinked="1"/>
        <c:majorTickMark val="none"/>
        <c:minorTickMark val="none"/>
        <c:tickLblPos val="nextTo"/>
        <c:crossAx val="1072740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User-provided workbook: Customer Churn (GT Bank) COMPLETE skill PROJECT 3(1).xlsx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C7D062-1C6A-456D-B313-7D5E827AA035}"/>
              </a:ext>
            </a:extLst>
          </p:cNvPr>
          <p:cNvSpPr>
            <a:spLocks noGrp="1"/>
          </p:cNvSpPr>
          <p:nvPr/>
        </p:nvSpPr>
        <p:spPr>
          <a:xfrm>
            <a:off x="0" y="0"/>
            <a:ext cx="26670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7C972A5E-7FD6-4AB0-B9E1-98E5EA23B991}"/>
              </a:ext>
            </a:extLst>
          </p:cNvPr>
          <p:cNvSpPr>
            <a:spLocks noGrp="1"/>
          </p:cNvSpPr>
          <p:nvPr/>
        </p:nvSpPr>
        <p:spPr>
          <a:xfrm>
            <a:off x="723900" y="1123950"/>
            <a:ext cx="9715500" cy="666750"/>
          </a:xfrm>
          <a:prstGeom prst="rect">
            <a:avLst/>
          </a:prstGeom>
          <a:noFill/>
          <a:ln w="0">
            <a:noFill/>
            <a:prstDash val="solid"/>
          </a:ln>
        </p:spPr>
        <p:txBody>
          <a:bodyPr/>
          <a:lstStyle/>
          <a:p>
            <a:pPr algn="l">
              <a:defRPr sz="3900" b="1">
                <a:solidFill>
                  <a:srgbClr val="FFFFFF"/>
                </a:solidFill>
              </a:defRPr>
            </a:pPr>
            <a:r>
              <a:rPr sz="3900" b="1">
                <a:solidFill>
                  <a:srgbClr val="FFFFFF"/>
                </a:solidFill>
              </a:rPr>
              <a:t>GTBANK CUSTOMER</a:t>
            </a:r>
          </a:p>
        </p:txBody>
      </p:sp>
      <p:sp>
        <p:nvSpPr>
          <p:cNvPr id="3" name="Rectangle 2">
            <a:extLst>
              <a:ext uri="{FF2B5EF4-FFF2-40B4-BE49-F238E27FC236}">
                <a16:creationId xmlns:a16="http://schemas.microsoft.com/office/drawing/2014/main" id="{2A5C42BE-50B3-4A9E-81A1-C1AC35E0CFF4}"/>
              </a:ext>
            </a:extLst>
          </p:cNvPr>
          <p:cNvSpPr>
            <a:spLocks noGrp="1"/>
          </p:cNvSpPr>
          <p:nvPr/>
        </p:nvSpPr>
        <p:spPr>
          <a:xfrm>
            <a:off x="723900" y="1790700"/>
            <a:ext cx="9525000" cy="666750"/>
          </a:xfrm>
          <a:prstGeom prst="rect">
            <a:avLst/>
          </a:prstGeom>
          <a:noFill/>
          <a:ln w="0">
            <a:noFill/>
            <a:prstDash val="solid"/>
          </a:ln>
        </p:spPr>
        <p:txBody>
          <a:bodyPr/>
          <a:lstStyle/>
          <a:p>
            <a:pPr algn="l">
              <a:defRPr sz="4050" b="1">
                <a:solidFill>
                  <a:srgbClr val="FF8A3D"/>
                </a:solidFill>
              </a:defRPr>
            </a:pPr>
            <a:r>
              <a:rPr sz="4050" b="1">
                <a:solidFill>
                  <a:srgbClr val="FF8A3D"/>
                </a:solidFill>
              </a:rPr>
              <a:t>CHURN ANALYSIS</a:t>
            </a:r>
          </a:p>
        </p:txBody>
      </p:sp>
      <p:sp>
        <p:nvSpPr>
          <p:cNvPr id="4" name="Rectangle 3">
            <a:extLst>
              <a:ext uri="{FF2B5EF4-FFF2-40B4-BE49-F238E27FC236}">
                <a16:creationId xmlns:a16="http://schemas.microsoft.com/office/drawing/2014/main" id="{0D4B1461-6BEC-4B64-8D41-BF30BBB209B5}"/>
              </a:ext>
            </a:extLst>
          </p:cNvPr>
          <p:cNvSpPr>
            <a:spLocks noGrp="1"/>
          </p:cNvSpPr>
          <p:nvPr/>
        </p:nvSpPr>
        <p:spPr>
          <a:xfrm>
            <a:off x="762000" y="2819400"/>
            <a:ext cx="9334500" cy="514350"/>
          </a:xfrm>
          <a:prstGeom prst="rect">
            <a:avLst/>
          </a:prstGeom>
          <a:noFill/>
          <a:ln w="0">
            <a:noFill/>
            <a:prstDash val="solid"/>
          </a:ln>
        </p:spPr>
        <p:txBody>
          <a:bodyPr/>
          <a:lstStyle/>
          <a:p>
            <a:pPr algn="l">
              <a:defRPr sz="1950" b="0">
                <a:solidFill>
                  <a:srgbClr val="FFFFFF"/>
                </a:solidFill>
              </a:defRPr>
            </a:pPr>
            <a:r>
              <a:rPr sz="1950" b="0">
                <a:solidFill>
                  <a:srgbClr val="FFFFFF"/>
                </a:solidFill>
              </a:rPr>
              <a:t>Retention risks, customer behaviour and practical priorities</a:t>
            </a:r>
          </a:p>
        </p:txBody>
      </p:sp>
      <p:sp>
        <p:nvSpPr>
          <p:cNvPr id="5" name="Rectangle 4">
            <a:extLst>
              <a:ext uri="{FF2B5EF4-FFF2-40B4-BE49-F238E27FC236}">
                <a16:creationId xmlns:a16="http://schemas.microsoft.com/office/drawing/2014/main" id="{1ED71F83-3FCB-4C6A-A0B1-84849CDEF504}"/>
              </a:ext>
            </a:extLst>
          </p:cNvPr>
          <p:cNvSpPr>
            <a:spLocks noGrp="1"/>
          </p:cNvSpPr>
          <p:nvPr/>
        </p:nvSpPr>
        <p:spPr>
          <a:xfrm>
            <a:off x="762000" y="3876675"/>
            <a:ext cx="3619500" cy="38100"/>
          </a:xfrm>
          <a:prstGeom prst="rect">
            <a:avLst/>
          </a:prstGeom>
          <a:solidFill>
            <a:srgbClr val="F26A21"/>
          </a:solidFill>
          <a:ln w="0">
            <a:noFill/>
            <a:prstDash val="solid"/>
          </a:ln>
        </p:spPr>
      </p:sp>
      <p:sp>
        <p:nvSpPr>
          <p:cNvPr id="6" name="Rectangle 5">
            <a:extLst>
              <a:ext uri="{FF2B5EF4-FFF2-40B4-BE49-F238E27FC236}">
                <a16:creationId xmlns:a16="http://schemas.microsoft.com/office/drawing/2014/main" id="{D1550014-B801-4BB8-B70F-A60376BBF7E4}"/>
              </a:ext>
            </a:extLst>
          </p:cNvPr>
          <p:cNvSpPr>
            <a:spLocks noGrp="1"/>
          </p:cNvSpPr>
          <p:nvPr/>
        </p:nvSpPr>
        <p:spPr>
          <a:xfrm>
            <a:off x="762000" y="4238625"/>
            <a:ext cx="6191250" cy="304800"/>
          </a:xfrm>
          <a:prstGeom prst="rect">
            <a:avLst/>
          </a:prstGeom>
          <a:noFill/>
          <a:ln w="0">
            <a:noFill/>
            <a:prstDash val="solid"/>
          </a:ln>
        </p:spPr>
        <p:txBody>
          <a:bodyPr/>
          <a:lstStyle/>
          <a:p>
            <a:pPr algn="l">
              <a:defRPr sz="1575" b="0">
                <a:solidFill>
                  <a:srgbClr val="D4D4D4"/>
                </a:solidFill>
              </a:defRPr>
            </a:pPr>
            <a:r>
              <a:rPr sz="1575" b="0">
                <a:solidFill>
                  <a:srgbClr val="D4D4D4"/>
                </a:solidFill>
              </a:rPr>
              <a:t>Analysis of 10,000 customer records</a:t>
            </a:r>
          </a:p>
        </p:txBody>
      </p:sp>
    </p:spTree>
    <p:extLst>
      <p:ext uri="{BB962C8B-B14F-4D97-AF65-F5344CB8AC3E}">
        <p14:creationId xmlns:p14="http://schemas.microsoft.com/office/powerpoint/2010/main" val="934172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70D2434-0B88-4AEA-9D96-8E67251AA5D1}"/>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ED20FA0E-5327-42C5-B781-49C12D5369CB}"/>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BD2755AA-E9CA-4E6C-BD1D-756A131C487E}"/>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One in five customers has left the bank</a:t>
            </a:r>
          </a:p>
        </p:txBody>
      </p:sp>
      <p:sp>
        <p:nvSpPr>
          <p:cNvPr id="4" name="Rectangle 3">
            <a:extLst>
              <a:ext uri="{FF2B5EF4-FFF2-40B4-BE49-F238E27FC236}">
                <a16:creationId xmlns:a16="http://schemas.microsoft.com/office/drawing/2014/main" id="{E78287A0-C11C-4BC6-BB00-DC4B670DA1B1}"/>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59197E09-E6F5-4384-92CC-2E8392396281}"/>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02</a:t>
            </a:r>
          </a:p>
        </p:txBody>
      </p:sp>
      <p:sp>
        <p:nvSpPr>
          <p:cNvPr id="6" name="Rectangle: Rounded Corners 5">
            <a:extLst>
              <a:ext uri="{FF2B5EF4-FFF2-40B4-BE49-F238E27FC236}">
                <a16:creationId xmlns:a16="http://schemas.microsoft.com/office/drawing/2014/main" id="{2321793E-FB20-4A8D-A896-11A845EE0E10}"/>
              </a:ext>
            </a:extLst>
          </p:cNvPr>
          <p:cNvSpPr>
            <a:spLocks noGrp="1"/>
          </p:cNvSpPr>
          <p:nvPr/>
        </p:nvSpPr>
        <p:spPr>
          <a:xfrm>
            <a:off x="552450" y="1695450"/>
            <a:ext cx="3286125" cy="1571625"/>
          </a:xfrm>
          <a:prstGeom prst="roundRect">
            <a:avLst>
              <a:gd name="adj" fmla="val 4848"/>
            </a:avLst>
          </a:prstGeom>
          <a:solidFill>
            <a:srgbClr val="FFFFFF"/>
          </a:solidFill>
          <a:ln w="9525">
            <a:solidFill>
              <a:srgbClr val="E5E5E5"/>
            </a:solidFill>
            <a:prstDash val="solid"/>
          </a:ln>
        </p:spPr>
        <p:txBody>
          <a:bodyPr/>
          <a:lstStyle/>
          <a:p>
            <a:endParaRPr lang="en-US" dirty="0"/>
          </a:p>
        </p:txBody>
      </p:sp>
      <p:sp>
        <p:nvSpPr>
          <p:cNvPr id="7" name="Rectangle 6">
            <a:extLst>
              <a:ext uri="{FF2B5EF4-FFF2-40B4-BE49-F238E27FC236}">
                <a16:creationId xmlns:a16="http://schemas.microsoft.com/office/drawing/2014/main" id="{16E4D571-F112-4168-BCA4-A39188DE06E2}"/>
              </a:ext>
            </a:extLst>
          </p:cNvPr>
          <p:cNvSpPr>
            <a:spLocks noGrp="1"/>
          </p:cNvSpPr>
          <p:nvPr/>
        </p:nvSpPr>
        <p:spPr>
          <a:xfrm>
            <a:off x="781050" y="1885950"/>
            <a:ext cx="2828925" cy="533400"/>
          </a:xfrm>
          <a:prstGeom prst="rect">
            <a:avLst/>
          </a:prstGeom>
          <a:noFill/>
          <a:ln w="0">
            <a:noFill/>
            <a:prstDash val="solid"/>
          </a:ln>
        </p:spPr>
        <p:txBody>
          <a:bodyPr/>
          <a:lstStyle/>
          <a:p>
            <a:pPr algn="l">
              <a:defRPr sz="3225" b="1">
                <a:solidFill>
                  <a:srgbClr val="F26A21"/>
                </a:solidFill>
              </a:defRPr>
            </a:pPr>
            <a:r>
              <a:rPr sz="3225" b="1" dirty="0">
                <a:solidFill>
                  <a:srgbClr val="F26A21"/>
                </a:solidFill>
              </a:rPr>
              <a:t>10,000</a:t>
            </a:r>
          </a:p>
        </p:txBody>
      </p:sp>
      <p:sp>
        <p:nvSpPr>
          <p:cNvPr id="8" name="Rectangle 7">
            <a:extLst>
              <a:ext uri="{FF2B5EF4-FFF2-40B4-BE49-F238E27FC236}">
                <a16:creationId xmlns:a16="http://schemas.microsoft.com/office/drawing/2014/main" id="{00C1963A-7607-4A35-816E-6F63D22D41B1}"/>
              </a:ext>
            </a:extLst>
          </p:cNvPr>
          <p:cNvSpPr>
            <a:spLocks noGrp="1"/>
          </p:cNvSpPr>
          <p:nvPr/>
        </p:nvSpPr>
        <p:spPr>
          <a:xfrm>
            <a:off x="781050" y="2524125"/>
            <a:ext cx="2828925" cy="266700"/>
          </a:xfrm>
          <a:prstGeom prst="rect">
            <a:avLst/>
          </a:prstGeom>
          <a:noFill/>
          <a:ln w="0">
            <a:noFill/>
            <a:prstDash val="solid"/>
          </a:ln>
        </p:spPr>
        <p:txBody>
          <a:bodyPr/>
          <a:lstStyle/>
          <a:p>
            <a:pPr algn="l">
              <a:defRPr sz="1650" b="1">
                <a:solidFill>
                  <a:srgbClr val="050505"/>
                </a:solidFill>
              </a:defRPr>
            </a:pPr>
            <a:r>
              <a:rPr sz="1650" b="1" dirty="0">
                <a:solidFill>
                  <a:srgbClr val="050505"/>
                </a:solidFill>
              </a:rPr>
              <a:t>TOTAL CUSTOMERS</a:t>
            </a:r>
          </a:p>
        </p:txBody>
      </p:sp>
      <p:sp>
        <p:nvSpPr>
          <p:cNvPr id="9" name="Rectangle 8">
            <a:extLst>
              <a:ext uri="{FF2B5EF4-FFF2-40B4-BE49-F238E27FC236}">
                <a16:creationId xmlns:a16="http://schemas.microsoft.com/office/drawing/2014/main" id="{9E95FD03-5B72-4DA7-B04E-A35644D73D98}"/>
              </a:ext>
            </a:extLst>
          </p:cNvPr>
          <p:cNvSpPr>
            <a:spLocks noGrp="1"/>
          </p:cNvSpPr>
          <p:nvPr/>
        </p:nvSpPr>
        <p:spPr>
          <a:xfrm>
            <a:off x="781050" y="2876550"/>
            <a:ext cx="2828925" cy="266700"/>
          </a:xfrm>
          <a:prstGeom prst="rect">
            <a:avLst/>
          </a:prstGeom>
          <a:noFill/>
          <a:ln w="0">
            <a:noFill/>
            <a:prstDash val="solid"/>
          </a:ln>
        </p:spPr>
        <p:txBody>
          <a:bodyPr/>
          <a:lstStyle/>
          <a:p>
            <a:pPr algn="l">
              <a:defRPr sz="1200" b="0">
                <a:solidFill>
                  <a:srgbClr val="60646C"/>
                </a:solidFill>
              </a:defRPr>
            </a:pPr>
            <a:r>
              <a:rPr sz="1200" b="0" dirty="0">
                <a:solidFill>
                  <a:schemeClr val="tx1">
                    <a:lumMod val="95000"/>
                    <a:lumOff val="5000"/>
                  </a:schemeClr>
                </a:solidFill>
              </a:rPr>
              <a:t>Complete customer records </a:t>
            </a:r>
            <a:r>
              <a:rPr sz="1200" b="0" dirty="0" err="1">
                <a:solidFill>
                  <a:schemeClr val="tx1">
                    <a:lumMod val="95000"/>
                    <a:lumOff val="5000"/>
                  </a:schemeClr>
                </a:solidFill>
              </a:rPr>
              <a:t>analysed</a:t>
            </a:r>
            <a:endParaRPr sz="1200" b="0" dirty="0">
              <a:solidFill>
                <a:schemeClr val="tx1">
                  <a:lumMod val="95000"/>
                  <a:lumOff val="5000"/>
                </a:schemeClr>
              </a:solidFill>
            </a:endParaRPr>
          </a:p>
        </p:txBody>
      </p:sp>
      <p:sp>
        <p:nvSpPr>
          <p:cNvPr id="10" name="Rectangle: Rounded Corners 9">
            <a:extLst>
              <a:ext uri="{FF2B5EF4-FFF2-40B4-BE49-F238E27FC236}">
                <a16:creationId xmlns:a16="http://schemas.microsoft.com/office/drawing/2014/main" id="{982FD2BF-C1DF-4761-A625-3E1E9FE49C6C}"/>
              </a:ext>
            </a:extLst>
          </p:cNvPr>
          <p:cNvSpPr>
            <a:spLocks noGrp="1"/>
          </p:cNvSpPr>
          <p:nvPr/>
        </p:nvSpPr>
        <p:spPr>
          <a:xfrm>
            <a:off x="4457700" y="1695450"/>
            <a:ext cx="3286125" cy="1571625"/>
          </a:xfrm>
          <a:prstGeom prst="roundRect">
            <a:avLst>
              <a:gd name="adj" fmla="val 4848"/>
            </a:avLst>
          </a:prstGeom>
          <a:solidFill>
            <a:srgbClr val="FFFFFF"/>
          </a:solidFill>
          <a:ln w="9525">
            <a:solidFill>
              <a:srgbClr val="E5E5E5"/>
            </a:solidFill>
            <a:prstDash val="solid"/>
          </a:ln>
        </p:spPr>
      </p:sp>
      <p:sp>
        <p:nvSpPr>
          <p:cNvPr id="11" name="Rectangle 10">
            <a:extLst>
              <a:ext uri="{FF2B5EF4-FFF2-40B4-BE49-F238E27FC236}">
                <a16:creationId xmlns:a16="http://schemas.microsoft.com/office/drawing/2014/main" id="{D041E5C5-2482-48BB-879C-5DF8F6701B1F}"/>
              </a:ext>
            </a:extLst>
          </p:cNvPr>
          <p:cNvSpPr>
            <a:spLocks noGrp="1"/>
          </p:cNvSpPr>
          <p:nvPr/>
        </p:nvSpPr>
        <p:spPr>
          <a:xfrm>
            <a:off x="4686300" y="1885950"/>
            <a:ext cx="2828925" cy="533400"/>
          </a:xfrm>
          <a:prstGeom prst="rect">
            <a:avLst/>
          </a:prstGeom>
          <a:noFill/>
          <a:ln w="0">
            <a:noFill/>
            <a:prstDash val="solid"/>
          </a:ln>
        </p:spPr>
        <p:txBody>
          <a:bodyPr/>
          <a:lstStyle/>
          <a:p>
            <a:pPr algn="l">
              <a:defRPr sz="3225" b="1">
                <a:solidFill>
                  <a:srgbClr val="F26A21"/>
                </a:solidFill>
              </a:defRPr>
            </a:pPr>
            <a:r>
              <a:rPr sz="3225" b="1">
                <a:solidFill>
                  <a:srgbClr val="F26A21"/>
                </a:solidFill>
              </a:rPr>
              <a:t>2,037</a:t>
            </a:r>
          </a:p>
        </p:txBody>
      </p:sp>
      <p:sp>
        <p:nvSpPr>
          <p:cNvPr id="12" name="Rectangle 11">
            <a:extLst>
              <a:ext uri="{FF2B5EF4-FFF2-40B4-BE49-F238E27FC236}">
                <a16:creationId xmlns:a16="http://schemas.microsoft.com/office/drawing/2014/main" id="{5D04B96D-FE22-48A9-9350-19D2785AE1A1}"/>
              </a:ext>
            </a:extLst>
          </p:cNvPr>
          <p:cNvSpPr>
            <a:spLocks noGrp="1"/>
          </p:cNvSpPr>
          <p:nvPr/>
        </p:nvSpPr>
        <p:spPr>
          <a:xfrm>
            <a:off x="4686300" y="2524125"/>
            <a:ext cx="2828925" cy="266700"/>
          </a:xfrm>
          <a:prstGeom prst="rect">
            <a:avLst/>
          </a:prstGeom>
          <a:noFill/>
          <a:ln w="0">
            <a:noFill/>
            <a:prstDash val="solid"/>
          </a:ln>
        </p:spPr>
        <p:txBody>
          <a:bodyPr/>
          <a:lstStyle/>
          <a:p>
            <a:pPr algn="l">
              <a:defRPr sz="1650" b="1">
                <a:solidFill>
                  <a:srgbClr val="050505"/>
                </a:solidFill>
              </a:defRPr>
            </a:pPr>
            <a:r>
              <a:rPr sz="1650" b="1">
                <a:solidFill>
                  <a:srgbClr val="050505"/>
                </a:solidFill>
              </a:rPr>
              <a:t>CHURNED CUSTOMERS</a:t>
            </a:r>
          </a:p>
        </p:txBody>
      </p:sp>
      <p:sp>
        <p:nvSpPr>
          <p:cNvPr id="13" name="Rectangle 12">
            <a:extLst>
              <a:ext uri="{FF2B5EF4-FFF2-40B4-BE49-F238E27FC236}">
                <a16:creationId xmlns:a16="http://schemas.microsoft.com/office/drawing/2014/main" id="{E1E135A0-59E3-4656-A55C-7D636DB9E5F9}"/>
              </a:ext>
            </a:extLst>
          </p:cNvPr>
          <p:cNvSpPr>
            <a:spLocks noGrp="1"/>
          </p:cNvSpPr>
          <p:nvPr/>
        </p:nvSpPr>
        <p:spPr>
          <a:xfrm>
            <a:off x="4686300" y="2876550"/>
            <a:ext cx="2828925" cy="266700"/>
          </a:xfrm>
          <a:prstGeom prst="rect">
            <a:avLst/>
          </a:prstGeom>
          <a:noFill/>
          <a:ln w="0">
            <a:noFill/>
            <a:prstDash val="solid"/>
          </a:ln>
        </p:spPr>
        <p:txBody>
          <a:bodyPr/>
          <a:lstStyle/>
          <a:p>
            <a:pPr algn="l">
              <a:defRPr sz="1200" b="0">
                <a:solidFill>
                  <a:srgbClr val="60646C"/>
                </a:solidFill>
              </a:defRPr>
            </a:pPr>
            <a:r>
              <a:rPr sz="1200" b="0">
                <a:solidFill>
                  <a:srgbClr val="60646C"/>
                </a:solidFill>
              </a:rPr>
              <a:t>Customers recorded as Exited = 1</a:t>
            </a:r>
          </a:p>
        </p:txBody>
      </p:sp>
      <p:sp>
        <p:nvSpPr>
          <p:cNvPr id="14" name="Rectangle: Rounded Corners 13">
            <a:extLst>
              <a:ext uri="{FF2B5EF4-FFF2-40B4-BE49-F238E27FC236}">
                <a16:creationId xmlns:a16="http://schemas.microsoft.com/office/drawing/2014/main" id="{B3E0A419-C765-4CA7-89C0-14C01219AA73}"/>
              </a:ext>
            </a:extLst>
          </p:cNvPr>
          <p:cNvSpPr>
            <a:spLocks noGrp="1"/>
          </p:cNvSpPr>
          <p:nvPr/>
        </p:nvSpPr>
        <p:spPr>
          <a:xfrm>
            <a:off x="8362950" y="1695450"/>
            <a:ext cx="3286125" cy="1571625"/>
          </a:xfrm>
          <a:prstGeom prst="roundRect">
            <a:avLst>
              <a:gd name="adj" fmla="val 4848"/>
            </a:avLst>
          </a:prstGeom>
          <a:solidFill>
            <a:srgbClr val="FFFFFF"/>
          </a:solidFill>
          <a:ln w="9525">
            <a:solidFill>
              <a:srgbClr val="E5E5E5"/>
            </a:solidFill>
            <a:prstDash val="solid"/>
          </a:ln>
        </p:spPr>
      </p:sp>
      <p:sp>
        <p:nvSpPr>
          <p:cNvPr id="15" name="Rectangle 14">
            <a:extLst>
              <a:ext uri="{FF2B5EF4-FFF2-40B4-BE49-F238E27FC236}">
                <a16:creationId xmlns:a16="http://schemas.microsoft.com/office/drawing/2014/main" id="{AA31A283-68F7-4D1C-80A4-E11F7FEC0136}"/>
              </a:ext>
            </a:extLst>
          </p:cNvPr>
          <p:cNvSpPr>
            <a:spLocks noGrp="1"/>
          </p:cNvSpPr>
          <p:nvPr/>
        </p:nvSpPr>
        <p:spPr>
          <a:xfrm>
            <a:off x="8591550" y="1885950"/>
            <a:ext cx="2828925" cy="533400"/>
          </a:xfrm>
          <a:prstGeom prst="rect">
            <a:avLst/>
          </a:prstGeom>
          <a:noFill/>
          <a:ln w="0">
            <a:noFill/>
            <a:prstDash val="solid"/>
          </a:ln>
        </p:spPr>
        <p:txBody>
          <a:bodyPr/>
          <a:lstStyle/>
          <a:p>
            <a:pPr algn="l">
              <a:defRPr sz="3225" b="1">
                <a:solidFill>
                  <a:srgbClr val="F26A21"/>
                </a:solidFill>
              </a:defRPr>
            </a:pPr>
            <a:r>
              <a:rPr sz="3225" b="1">
                <a:solidFill>
                  <a:srgbClr val="F26A21"/>
                </a:solidFill>
              </a:rPr>
              <a:t>20.37%</a:t>
            </a:r>
          </a:p>
        </p:txBody>
      </p:sp>
      <p:sp>
        <p:nvSpPr>
          <p:cNvPr id="16" name="Rectangle 15">
            <a:extLst>
              <a:ext uri="{FF2B5EF4-FFF2-40B4-BE49-F238E27FC236}">
                <a16:creationId xmlns:a16="http://schemas.microsoft.com/office/drawing/2014/main" id="{5729AE8D-D396-4B6C-A335-A02AF24D255D}"/>
              </a:ext>
            </a:extLst>
          </p:cNvPr>
          <p:cNvSpPr>
            <a:spLocks noGrp="1"/>
          </p:cNvSpPr>
          <p:nvPr/>
        </p:nvSpPr>
        <p:spPr>
          <a:xfrm>
            <a:off x="8591550" y="2524125"/>
            <a:ext cx="2828925" cy="266700"/>
          </a:xfrm>
          <a:prstGeom prst="rect">
            <a:avLst/>
          </a:prstGeom>
          <a:noFill/>
          <a:ln w="0">
            <a:noFill/>
            <a:prstDash val="solid"/>
          </a:ln>
        </p:spPr>
        <p:txBody>
          <a:bodyPr/>
          <a:lstStyle/>
          <a:p>
            <a:pPr algn="l">
              <a:defRPr sz="1650" b="1">
                <a:solidFill>
                  <a:srgbClr val="050505"/>
                </a:solidFill>
              </a:defRPr>
            </a:pPr>
            <a:r>
              <a:rPr sz="1650" b="1">
                <a:solidFill>
                  <a:srgbClr val="050505"/>
                </a:solidFill>
              </a:rPr>
              <a:t>CHURN RATE</a:t>
            </a:r>
          </a:p>
        </p:txBody>
      </p:sp>
      <p:sp>
        <p:nvSpPr>
          <p:cNvPr id="17" name="Rectangle 16">
            <a:extLst>
              <a:ext uri="{FF2B5EF4-FFF2-40B4-BE49-F238E27FC236}">
                <a16:creationId xmlns:a16="http://schemas.microsoft.com/office/drawing/2014/main" id="{4411E415-80A8-47D2-9041-A54EBAAF38F8}"/>
              </a:ext>
            </a:extLst>
          </p:cNvPr>
          <p:cNvSpPr>
            <a:spLocks noGrp="1"/>
          </p:cNvSpPr>
          <p:nvPr/>
        </p:nvSpPr>
        <p:spPr>
          <a:xfrm>
            <a:off x="8591550" y="2876550"/>
            <a:ext cx="2828925" cy="266700"/>
          </a:xfrm>
          <a:prstGeom prst="rect">
            <a:avLst/>
          </a:prstGeom>
          <a:noFill/>
          <a:ln w="0">
            <a:noFill/>
            <a:prstDash val="solid"/>
          </a:ln>
        </p:spPr>
        <p:txBody>
          <a:bodyPr/>
          <a:lstStyle/>
          <a:p>
            <a:pPr algn="l">
              <a:defRPr sz="1200" b="0">
                <a:solidFill>
                  <a:srgbClr val="60646C"/>
                </a:solidFill>
              </a:defRPr>
            </a:pPr>
            <a:r>
              <a:rPr sz="1200" b="0">
                <a:solidFill>
                  <a:srgbClr val="60646C"/>
                </a:solidFill>
              </a:rPr>
              <a:t>Overall proportion that left</a:t>
            </a:r>
          </a:p>
        </p:txBody>
      </p:sp>
      <p:sp>
        <p:nvSpPr>
          <p:cNvPr id="18" name="Rectangle: Rounded Corners 17">
            <a:extLst>
              <a:ext uri="{FF2B5EF4-FFF2-40B4-BE49-F238E27FC236}">
                <a16:creationId xmlns:a16="http://schemas.microsoft.com/office/drawing/2014/main" id="{1F9D1003-8CAB-4364-B4B5-E6A13FE997A9}"/>
              </a:ext>
            </a:extLst>
          </p:cNvPr>
          <p:cNvSpPr>
            <a:spLocks noGrp="1"/>
          </p:cNvSpPr>
          <p:nvPr/>
        </p:nvSpPr>
        <p:spPr>
          <a:xfrm>
            <a:off x="552450" y="5143500"/>
            <a:ext cx="11087100" cy="1200150"/>
          </a:xfrm>
          <a:prstGeom prst="roundRect">
            <a:avLst>
              <a:gd name="adj" fmla="val 7143"/>
            </a:avLst>
          </a:prstGeom>
          <a:solidFill>
            <a:srgbClr val="FFF4EC"/>
          </a:solidFill>
          <a:ln w="0">
            <a:noFill/>
            <a:prstDash val="solid"/>
          </a:ln>
        </p:spPr>
      </p:sp>
      <p:sp>
        <p:nvSpPr>
          <p:cNvPr id="19" name="Rectangle 18">
            <a:extLst>
              <a:ext uri="{FF2B5EF4-FFF2-40B4-BE49-F238E27FC236}">
                <a16:creationId xmlns:a16="http://schemas.microsoft.com/office/drawing/2014/main" id="{6E7F6182-4F36-40DF-A530-47BEF2897A61}"/>
              </a:ext>
            </a:extLst>
          </p:cNvPr>
          <p:cNvSpPr>
            <a:spLocks noGrp="1"/>
          </p:cNvSpPr>
          <p:nvPr/>
        </p:nvSpPr>
        <p:spPr>
          <a:xfrm>
            <a:off x="552450" y="5143500"/>
            <a:ext cx="76200" cy="1066800"/>
          </a:xfrm>
          <a:prstGeom prst="rect">
            <a:avLst/>
          </a:prstGeom>
          <a:solidFill>
            <a:srgbClr val="F26A21"/>
          </a:solidFill>
          <a:ln w="0">
            <a:noFill/>
            <a:prstDash val="solid"/>
          </a:ln>
        </p:spPr>
      </p:sp>
      <p:sp>
        <p:nvSpPr>
          <p:cNvPr id="20" name="Rectangle 19">
            <a:extLst>
              <a:ext uri="{FF2B5EF4-FFF2-40B4-BE49-F238E27FC236}">
                <a16:creationId xmlns:a16="http://schemas.microsoft.com/office/drawing/2014/main" id="{8EAA6F7D-72C5-4A0E-B8C5-BB10FE8CA118}"/>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lang="en-US" sz="1650" b="0" dirty="0">
                <a:solidFill>
                  <a:srgbClr val="050505"/>
                </a:solidFill>
              </a:rPr>
              <a:t> Of the 10,000 customers </a:t>
            </a:r>
            <a:r>
              <a:rPr lang="en-US" sz="1650" b="0" dirty="0" err="1">
                <a:solidFill>
                  <a:srgbClr val="050505"/>
                </a:solidFill>
              </a:rPr>
              <a:t>analysed</a:t>
            </a:r>
            <a:r>
              <a:rPr lang="en-US" sz="1650" b="0" dirty="0">
                <a:solidFill>
                  <a:srgbClr val="050505"/>
                </a:solidFill>
              </a:rPr>
              <a:t>, 2,037 have left the bank, producing a churn rate of 20.37%. Although 55.15% are active members, losing approximately one in every five customers indicates a significant retention challenge. With a combined account balance of ₦764.86 million, improving customer retention could help protect deposits and strengthen long-term relationships</a:t>
            </a:r>
            <a:endParaRPr sz="1650" b="0" dirty="0">
              <a:solidFill>
                <a:srgbClr val="050505"/>
              </a:solidFill>
            </a:endParaRPr>
          </a:p>
        </p:txBody>
      </p:sp>
      <p:sp>
        <p:nvSpPr>
          <p:cNvPr id="22" name="Rectangle: Rounded Corners 21">
            <a:extLst>
              <a:ext uri="{FF2B5EF4-FFF2-40B4-BE49-F238E27FC236}">
                <a16:creationId xmlns:a16="http://schemas.microsoft.com/office/drawing/2014/main" id="{3D9AB9C8-F5AA-44DB-92B0-9A855C594C86}"/>
              </a:ext>
            </a:extLst>
          </p:cNvPr>
          <p:cNvSpPr>
            <a:spLocks noGrp="1"/>
          </p:cNvSpPr>
          <p:nvPr/>
        </p:nvSpPr>
        <p:spPr>
          <a:xfrm>
            <a:off x="1508413" y="3562350"/>
            <a:ext cx="3286125" cy="1571625"/>
          </a:xfrm>
          <a:prstGeom prst="roundRect">
            <a:avLst>
              <a:gd name="adj" fmla="val 4848"/>
            </a:avLst>
          </a:prstGeom>
          <a:solidFill>
            <a:srgbClr val="FFFFFF"/>
          </a:solidFill>
          <a:ln w="9525">
            <a:solidFill>
              <a:srgbClr val="E5E5E5"/>
            </a:solidFill>
            <a:prstDash val="solid"/>
          </a:ln>
        </p:spPr>
        <p:txBody>
          <a:bodyPr/>
          <a:lstStyle/>
          <a:p>
            <a:endParaRPr lang="en-US" dirty="0"/>
          </a:p>
        </p:txBody>
      </p:sp>
      <p:sp>
        <p:nvSpPr>
          <p:cNvPr id="23" name="Rectangle: Rounded Corners 22">
            <a:extLst>
              <a:ext uri="{FF2B5EF4-FFF2-40B4-BE49-F238E27FC236}">
                <a16:creationId xmlns:a16="http://schemas.microsoft.com/office/drawing/2014/main" id="{6125CD70-E737-4B81-B913-A10D420B3434}"/>
              </a:ext>
            </a:extLst>
          </p:cNvPr>
          <p:cNvSpPr>
            <a:spLocks noGrp="1"/>
          </p:cNvSpPr>
          <p:nvPr/>
        </p:nvSpPr>
        <p:spPr>
          <a:xfrm>
            <a:off x="6131501" y="3562350"/>
            <a:ext cx="3286125" cy="1571625"/>
          </a:xfrm>
          <a:prstGeom prst="roundRect">
            <a:avLst>
              <a:gd name="adj" fmla="val 4848"/>
            </a:avLst>
          </a:prstGeom>
          <a:solidFill>
            <a:srgbClr val="FFFFFF"/>
          </a:solidFill>
          <a:ln w="9525">
            <a:solidFill>
              <a:srgbClr val="E5E5E5"/>
            </a:solidFill>
            <a:prstDash val="solid"/>
          </a:ln>
        </p:spPr>
      </p:sp>
      <p:sp>
        <p:nvSpPr>
          <p:cNvPr id="25" name="Rectangle 24">
            <a:extLst>
              <a:ext uri="{FF2B5EF4-FFF2-40B4-BE49-F238E27FC236}">
                <a16:creationId xmlns:a16="http://schemas.microsoft.com/office/drawing/2014/main" id="{F5682941-7872-444A-B3B6-A03639EF5DD8}"/>
              </a:ext>
            </a:extLst>
          </p:cNvPr>
          <p:cNvSpPr>
            <a:spLocks noGrp="1"/>
          </p:cNvSpPr>
          <p:nvPr/>
        </p:nvSpPr>
        <p:spPr>
          <a:xfrm>
            <a:off x="1737013" y="3762375"/>
            <a:ext cx="2828925" cy="533400"/>
          </a:xfrm>
          <a:prstGeom prst="rect">
            <a:avLst/>
          </a:prstGeom>
          <a:noFill/>
          <a:ln w="0">
            <a:noFill/>
            <a:prstDash val="solid"/>
          </a:ln>
        </p:spPr>
        <p:txBody>
          <a:bodyPr/>
          <a:lstStyle/>
          <a:p>
            <a:pPr algn="l">
              <a:defRPr sz="3225" b="1">
                <a:solidFill>
                  <a:srgbClr val="F26A21"/>
                </a:solidFill>
              </a:defRPr>
            </a:pPr>
            <a:r>
              <a:rPr lang="en-US" sz="3225" b="1" dirty="0">
                <a:solidFill>
                  <a:srgbClr val="F26A21"/>
                </a:solidFill>
              </a:rPr>
              <a:t>51.51%</a:t>
            </a:r>
            <a:endParaRPr sz="3225" b="1" dirty="0">
              <a:solidFill>
                <a:srgbClr val="F26A21"/>
              </a:solidFill>
            </a:endParaRPr>
          </a:p>
        </p:txBody>
      </p:sp>
      <p:sp>
        <p:nvSpPr>
          <p:cNvPr id="27" name="Rectangle 26">
            <a:extLst>
              <a:ext uri="{FF2B5EF4-FFF2-40B4-BE49-F238E27FC236}">
                <a16:creationId xmlns:a16="http://schemas.microsoft.com/office/drawing/2014/main" id="{66B38906-4491-4261-BB09-E3B5EA715D93}"/>
              </a:ext>
            </a:extLst>
          </p:cNvPr>
          <p:cNvSpPr>
            <a:spLocks noGrp="1"/>
          </p:cNvSpPr>
          <p:nvPr/>
        </p:nvSpPr>
        <p:spPr>
          <a:xfrm>
            <a:off x="6329362" y="3671887"/>
            <a:ext cx="2828925" cy="533400"/>
          </a:xfrm>
          <a:prstGeom prst="rect">
            <a:avLst/>
          </a:prstGeom>
          <a:noFill/>
          <a:ln w="0">
            <a:noFill/>
            <a:prstDash val="solid"/>
          </a:ln>
        </p:spPr>
        <p:txBody>
          <a:bodyPr/>
          <a:lstStyle/>
          <a:p>
            <a:pPr algn="l">
              <a:defRPr sz="3225" b="1">
                <a:solidFill>
                  <a:srgbClr val="F26A21"/>
                </a:solidFill>
              </a:defRPr>
            </a:pPr>
            <a:r>
              <a:rPr lang="en-US" sz="3600" b="0" i="0" u="none" strike="noStrike" dirty="0">
                <a:solidFill>
                  <a:srgbClr val="F26A1E"/>
                </a:solidFill>
                <a:effectLst/>
                <a:latin typeface="Calibri" panose="020F0502020204030204" pitchFamily="34" charset="0"/>
              </a:rPr>
              <a:t>₦</a:t>
            </a:r>
            <a:r>
              <a:rPr lang="en-US" sz="3600" b="0" i="0" u="none" strike="noStrike" dirty="0">
                <a:solidFill>
                  <a:srgbClr val="000000"/>
                </a:solidFill>
                <a:effectLst/>
                <a:latin typeface="Calibri" panose="020F0502020204030204" pitchFamily="34" charset="0"/>
              </a:rPr>
              <a:t> </a:t>
            </a:r>
            <a:r>
              <a:rPr lang="en-US" sz="3225" b="1" dirty="0">
                <a:solidFill>
                  <a:srgbClr val="F26A21"/>
                </a:solidFill>
              </a:rPr>
              <a:t>764,858,8</a:t>
            </a:r>
            <a:r>
              <a:rPr lang="en-US" dirty="0"/>
              <a:t> </a:t>
            </a:r>
            <a:endParaRPr sz="3225" b="1" dirty="0">
              <a:solidFill>
                <a:srgbClr val="F26A21"/>
              </a:solidFill>
            </a:endParaRPr>
          </a:p>
        </p:txBody>
      </p:sp>
      <p:sp>
        <p:nvSpPr>
          <p:cNvPr id="28" name="Rectangle 27">
            <a:extLst>
              <a:ext uri="{FF2B5EF4-FFF2-40B4-BE49-F238E27FC236}">
                <a16:creationId xmlns:a16="http://schemas.microsoft.com/office/drawing/2014/main" id="{A3B83458-D39D-4178-87DB-3FD85FBF268D}"/>
              </a:ext>
            </a:extLst>
          </p:cNvPr>
          <p:cNvSpPr>
            <a:spLocks noGrp="1"/>
          </p:cNvSpPr>
          <p:nvPr/>
        </p:nvSpPr>
        <p:spPr>
          <a:xfrm>
            <a:off x="1508413" y="4314825"/>
            <a:ext cx="3177887" cy="195695"/>
          </a:xfrm>
          <a:prstGeom prst="rect">
            <a:avLst/>
          </a:prstGeom>
          <a:noFill/>
          <a:ln w="0">
            <a:noFill/>
            <a:prstDash val="solid"/>
          </a:ln>
        </p:spPr>
        <p:txBody>
          <a:bodyPr/>
          <a:lstStyle/>
          <a:p>
            <a:pPr algn="l">
              <a:defRPr sz="1650" b="1">
                <a:solidFill>
                  <a:srgbClr val="050505"/>
                </a:solidFill>
              </a:defRPr>
            </a:pPr>
            <a:r>
              <a:rPr lang="en-US" sz="1650" b="1" dirty="0">
                <a:solidFill>
                  <a:srgbClr val="050505"/>
                </a:solidFill>
              </a:rPr>
              <a:t>ACTIVE MEMBERSHIP RATE</a:t>
            </a:r>
            <a:endParaRPr sz="1650" b="1" dirty="0">
              <a:solidFill>
                <a:srgbClr val="050505"/>
              </a:solidFill>
            </a:endParaRPr>
          </a:p>
        </p:txBody>
      </p:sp>
      <p:sp>
        <p:nvSpPr>
          <p:cNvPr id="29" name="Rectangle 28">
            <a:extLst>
              <a:ext uri="{FF2B5EF4-FFF2-40B4-BE49-F238E27FC236}">
                <a16:creationId xmlns:a16="http://schemas.microsoft.com/office/drawing/2014/main" id="{75659A08-82E6-481E-859F-E8F15DCDD514}"/>
              </a:ext>
            </a:extLst>
          </p:cNvPr>
          <p:cNvSpPr>
            <a:spLocks noGrp="1"/>
          </p:cNvSpPr>
          <p:nvPr/>
        </p:nvSpPr>
        <p:spPr>
          <a:xfrm>
            <a:off x="6241039" y="4243820"/>
            <a:ext cx="2828925" cy="266700"/>
          </a:xfrm>
          <a:prstGeom prst="rect">
            <a:avLst/>
          </a:prstGeom>
          <a:noFill/>
          <a:ln w="0">
            <a:noFill/>
            <a:prstDash val="solid"/>
          </a:ln>
        </p:spPr>
        <p:txBody>
          <a:bodyPr/>
          <a:lstStyle/>
          <a:p>
            <a:pPr algn="l">
              <a:defRPr sz="1650" b="1">
                <a:solidFill>
                  <a:srgbClr val="050505"/>
                </a:solidFill>
              </a:defRPr>
            </a:pPr>
            <a:r>
              <a:rPr sz="1650" b="1" dirty="0">
                <a:solidFill>
                  <a:srgbClr val="050505"/>
                </a:solidFill>
              </a:rPr>
              <a:t>TOTAL </a:t>
            </a:r>
            <a:r>
              <a:rPr lang="en-US" sz="1650" b="1" dirty="0">
                <a:solidFill>
                  <a:srgbClr val="050505"/>
                </a:solidFill>
              </a:rPr>
              <a:t>ACCOUNT BALANCE</a:t>
            </a:r>
            <a:endParaRPr sz="1650" b="1" dirty="0">
              <a:solidFill>
                <a:srgbClr val="050505"/>
              </a:solidFill>
            </a:endParaRPr>
          </a:p>
        </p:txBody>
      </p:sp>
      <p:sp>
        <p:nvSpPr>
          <p:cNvPr id="30" name="Rectangle 29">
            <a:extLst>
              <a:ext uri="{FF2B5EF4-FFF2-40B4-BE49-F238E27FC236}">
                <a16:creationId xmlns:a16="http://schemas.microsoft.com/office/drawing/2014/main" id="{A96BF537-6005-4EF8-8ABB-214C357D655E}"/>
              </a:ext>
            </a:extLst>
          </p:cNvPr>
          <p:cNvSpPr>
            <a:spLocks noGrp="1"/>
          </p:cNvSpPr>
          <p:nvPr/>
        </p:nvSpPr>
        <p:spPr>
          <a:xfrm>
            <a:off x="1562400" y="4784241"/>
            <a:ext cx="2828925" cy="266700"/>
          </a:xfrm>
          <a:prstGeom prst="rect">
            <a:avLst/>
          </a:prstGeom>
          <a:noFill/>
          <a:ln w="0">
            <a:noFill/>
            <a:prstDash val="solid"/>
          </a:ln>
        </p:spPr>
        <p:txBody>
          <a:bodyPr/>
          <a:lstStyle/>
          <a:p>
            <a:pPr algn="l">
              <a:defRPr sz="1200" b="0">
                <a:solidFill>
                  <a:srgbClr val="60646C"/>
                </a:solidFill>
              </a:defRPr>
            </a:pPr>
            <a:r>
              <a:rPr lang="en-US" sz="1200" dirty="0">
                <a:solidFill>
                  <a:schemeClr val="tx1">
                    <a:lumMod val="95000"/>
                    <a:lumOff val="5000"/>
                  </a:schemeClr>
                </a:solidFill>
              </a:rPr>
              <a:t>Customer classified as active members</a:t>
            </a:r>
            <a:endParaRPr sz="1200" b="0" dirty="0">
              <a:solidFill>
                <a:schemeClr val="tx1">
                  <a:lumMod val="95000"/>
                  <a:lumOff val="5000"/>
                </a:schemeClr>
              </a:solidFill>
            </a:endParaRPr>
          </a:p>
        </p:txBody>
      </p:sp>
      <p:sp>
        <p:nvSpPr>
          <p:cNvPr id="31" name="Rectangle 30">
            <a:extLst>
              <a:ext uri="{FF2B5EF4-FFF2-40B4-BE49-F238E27FC236}">
                <a16:creationId xmlns:a16="http://schemas.microsoft.com/office/drawing/2014/main" id="{C4B72D74-C6C4-4829-90C8-E92E8BB92A25}"/>
              </a:ext>
            </a:extLst>
          </p:cNvPr>
          <p:cNvSpPr>
            <a:spLocks noGrp="1"/>
          </p:cNvSpPr>
          <p:nvPr/>
        </p:nvSpPr>
        <p:spPr>
          <a:xfrm>
            <a:off x="6241038" y="4667250"/>
            <a:ext cx="2828925" cy="441444"/>
          </a:xfrm>
          <a:prstGeom prst="rect">
            <a:avLst/>
          </a:prstGeom>
          <a:noFill/>
          <a:ln w="0">
            <a:noFill/>
            <a:prstDash val="solid"/>
          </a:ln>
        </p:spPr>
        <p:txBody>
          <a:bodyPr/>
          <a:lstStyle/>
          <a:p>
            <a:pPr algn="l">
              <a:defRPr sz="1200" b="0">
                <a:solidFill>
                  <a:srgbClr val="60646C"/>
                </a:solidFill>
              </a:defRPr>
            </a:pPr>
            <a:r>
              <a:rPr lang="en-US" sz="1200" dirty="0">
                <a:solidFill>
                  <a:schemeClr val="tx1">
                    <a:lumMod val="95000"/>
                    <a:lumOff val="5000"/>
                  </a:schemeClr>
                </a:solidFill>
              </a:rPr>
              <a:t>Customer Combined account balance </a:t>
            </a:r>
            <a:endParaRPr sz="1200" b="0" dirty="0">
              <a:solidFill>
                <a:schemeClr val="tx1">
                  <a:lumMod val="95000"/>
                  <a:lumOff val="5000"/>
                </a:schemeClr>
              </a:solidFill>
            </a:endParaRPr>
          </a:p>
        </p:txBody>
      </p:sp>
    </p:spTree>
    <p:extLst>
      <p:ext uri="{BB962C8B-B14F-4D97-AF65-F5344CB8AC3E}">
        <p14:creationId xmlns:p14="http://schemas.microsoft.com/office/powerpoint/2010/main" val="1419936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4230B12-FDB6-40C3-9663-28D262E1AE88}"/>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0653153D-0512-4FC8-80BF-AC0297A84B25}"/>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F5A7C70E-1834-484F-93AB-E032AB42C17F}"/>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Clean, grouped data makes the churn patterns comparable</a:t>
            </a:r>
          </a:p>
        </p:txBody>
      </p:sp>
      <p:sp>
        <p:nvSpPr>
          <p:cNvPr id="4" name="Rectangle 3">
            <a:extLst>
              <a:ext uri="{FF2B5EF4-FFF2-40B4-BE49-F238E27FC236}">
                <a16:creationId xmlns:a16="http://schemas.microsoft.com/office/drawing/2014/main" id="{E080E232-0573-460B-8A5D-56753BB9E069}"/>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1C2D107F-86BA-42A2-B5BA-183A367B114D}"/>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03</a:t>
            </a:r>
          </a:p>
        </p:txBody>
      </p:sp>
      <p:sp>
        <p:nvSpPr>
          <p:cNvPr id="6" name="Rectangle 5">
            <a:extLst>
              <a:ext uri="{FF2B5EF4-FFF2-40B4-BE49-F238E27FC236}">
                <a16:creationId xmlns:a16="http://schemas.microsoft.com/office/drawing/2014/main" id="{373EFF27-F666-400B-BEF5-184A233E40CA}"/>
              </a:ext>
            </a:extLst>
          </p:cNvPr>
          <p:cNvSpPr>
            <a:spLocks noGrp="1"/>
          </p:cNvSpPr>
          <p:nvPr/>
        </p:nvSpPr>
        <p:spPr>
          <a:xfrm>
            <a:off x="685800" y="1504950"/>
            <a:ext cx="4000500" cy="304800"/>
          </a:xfrm>
          <a:prstGeom prst="rect">
            <a:avLst/>
          </a:prstGeom>
          <a:noFill/>
          <a:ln w="0">
            <a:noFill/>
            <a:prstDash val="solid"/>
          </a:ln>
        </p:spPr>
        <p:txBody>
          <a:bodyPr/>
          <a:lstStyle/>
          <a:p>
            <a:pPr algn="l">
              <a:defRPr sz="1875" b="1">
                <a:solidFill>
                  <a:srgbClr val="F26A21"/>
                </a:solidFill>
              </a:defRPr>
            </a:pPr>
            <a:r>
              <a:rPr sz="1875" b="1">
                <a:solidFill>
                  <a:srgbClr val="F26A21"/>
                </a:solidFill>
              </a:rPr>
              <a:t>What was prepared</a:t>
            </a:r>
          </a:p>
        </p:txBody>
      </p:sp>
      <p:sp>
        <p:nvSpPr>
          <p:cNvPr id="7" name="Rectangle 6">
            <a:extLst>
              <a:ext uri="{FF2B5EF4-FFF2-40B4-BE49-F238E27FC236}">
                <a16:creationId xmlns:a16="http://schemas.microsoft.com/office/drawing/2014/main" id="{8403D5EE-8BC3-475B-AD3F-88A7896611F4}"/>
              </a:ext>
            </a:extLst>
          </p:cNvPr>
          <p:cNvSpPr>
            <a:spLocks noGrp="1"/>
          </p:cNvSpPr>
          <p:nvPr/>
        </p:nvSpPr>
        <p:spPr>
          <a:xfrm>
            <a:off x="742950" y="1981200"/>
            <a:ext cx="4762500" cy="514350"/>
          </a:xfrm>
          <a:prstGeom prst="rect">
            <a:avLst/>
          </a:prstGeom>
          <a:noFill/>
          <a:ln w="0">
            <a:noFill/>
            <a:prstDash val="solid"/>
          </a:ln>
        </p:spPr>
        <p:txBody>
          <a:bodyPr/>
          <a:lstStyle/>
          <a:p>
            <a:pPr algn="l">
              <a:defRPr sz="1650" b="1">
                <a:solidFill>
                  <a:srgbClr val="050505"/>
                </a:solidFill>
              </a:defRPr>
            </a:pPr>
            <a:r>
              <a:rPr sz="1650" b="1">
                <a:solidFill>
                  <a:srgbClr val="050505"/>
                </a:solidFill>
              </a:rPr>
              <a:t>•  Removed personal surnames from the analysis view</a:t>
            </a:r>
          </a:p>
        </p:txBody>
      </p:sp>
      <p:sp>
        <p:nvSpPr>
          <p:cNvPr id="8" name="Rectangle 7">
            <a:extLst>
              <a:ext uri="{FF2B5EF4-FFF2-40B4-BE49-F238E27FC236}">
                <a16:creationId xmlns:a16="http://schemas.microsoft.com/office/drawing/2014/main" id="{E454FFB2-375E-4097-8395-354BDA5070A2}"/>
              </a:ext>
            </a:extLst>
          </p:cNvPr>
          <p:cNvSpPr>
            <a:spLocks noGrp="1"/>
          </p:cNvSpPr>
          <p:nvPr/>
        </p:nvSpPr>
        <p:spPr>
          <a:xfrm>
            <a:off x="742950" y="2600325"/>
            <a:ext cx="4762500" cy="514350"/>
          </a:xfrm>
          <a:prstGeom prst="rect">
            <a:avLst/>
          </a:prstGeom>
          <a:noFill/>
          <a:ln w="0">
            <a:noFill/>
            <a:prstDash val="solid"/>
          </a:ln>
        </p:spPr>
        <p:txBody>
          <a:bodyPr/>
          <a:lstStyle/>
          <a:p>
            <a:pPr algn="l">
              <a:defRPr sz="1650" b="0">
                <a:solidFill>
                  <a:srgbClr val="050505"/>
                </a:solidFill>
              </a:defRPr>
            </a:pPr>
            <a:r>
              <a:rPr sz="1650" b="0">
                <a:solidFill>
                  <a:srgbClr val="050505"/>
                </a:solidFill>
              </a:rPr>
              <a:t>•  Checked Customer ID and row counts for 10,000 records</a:t>
            </a:r>
          </a:p>
        </p:txBody>
      </p:sp>
      <p:sp>
        <p:nvSpPr>
          <p:cNvPr id="9" name="Rectangle 8">
            <a:extLst>
              <a:ext uri="{FF2B5EF4-FFF2-40B4-BE49-F238E27FC236}">
                <a16:creationId xmlns:a16="http://schemas.microsoft.com/office/drawing/2014/main" id="{4A5FF7F6-70AF-4585-A5C2-DAAFAE109431}"/>
              </a:ext>
            </a:extLst>
          </p:cNvPr>
          <p:cNvSpPr>
            <a:spLocks noGrp="1"/>
          </p:cNvSpPr>
          <p:nvPr/>
        </p:nvSpPr>
        <p:spPr>
          <a:xfrm>
            <a:off x="742950" y="3219450"/>
            <a:ext cx="4762500" cy="514350"/>
          </a:xfrm>
          <a:prstGeom prst="rect">
            <a:avLst/>
          </a:prstGeom>
          <a:noFill/>
          <a:ln w="0">
            <a:noFill/>
            <a:prstDash val="solid"/>
          </a:ln>
        </p:spPr>
        <p:txBody>
          <a:bodyPr/>
          <a:lstStyle/>
          <a:p>
            <a:pPr algn="l">
              <a:defRPr sz="1650" b="0">
                <a:solidFill>
                  <a:srgbClr val="050505"/>
                </a:solidFill>
              </a:defRPr>
            </a:pPr>
            <a:r>
              <a:rPr sz="1650" b="0">
                <a:solidFill>
                  <a:srgbClr val="050505"/>
                </a:solidFill>
              </a:rPr>
              <a:t>•  Converted Exited into retained and churned outcomes</a:t>
            </a:r>
          </a:p>
        </p:txBody>
      </p:sp>
      <p:sp>
        <p:nvSpPr>
          <p:cNvPr id="10" name="Rectangle 9">
            <a:extLst>
              <a:ext uri="{FF2B5EF4-FFF2-40B4-BE49-F238E27FC236}">
                <a16:creationId xmlns:a16="http://schemas.microsoft.com/office/drawing/2014/main" id="{675F1564-FB14-46CA-834F-D9015C703A16}"/>
              </a:ext>
            </a:extLst>
          </p:cNvPr>
          <p:cNvSpPr>
            <a:spLocks noGrp="1"/>
          </p:cNvSpPr>
          <p:nvPr/>
        </p:nvSpPr>
        <p:spPr>
          <a:xfrm>
            <a:off x="742950" y="3838575"/>
            <a:ext cx="4762500" cy="514350"/>
          </a:xfrm>
          <a:prstGeom prst="rect">
            <a:avLst/>
          </a:prstGeom>
          <a:noFill/>
          <a:ln w="0">
            <a:noFill/>
            <a:prstDash val="solid"/>
          </a:ln>
        </p:spPr>
        <p:txBody>
          <a:bodyPr/>
          <a:lstStyle/>
          <a:p>
            <a:pPr algn="l">
              <a:defRPr sz="1650" b="0">
                <a:solidFill>
                  <a:srgbClr val="050505"/>
                </a:solidFill>
              </a:defRPr>
            </a:pPr>
            <a:r>
              <a:rPr sz="1650" b="0">
                <a:solidFill>
                  <a:srgbClr val="050505"/>
                </a:solidFill>
              </a:rPr>
              <a:t>•  Grouped age, tenure, balance and product ownership</a:t>
            </a:r>
          </a:p>
        </p:txBody>
      </p:sp>
      <p:sp>
        <p:nvSpPr>
          <p:cNvPr id="11" name="Rectangle 10">
            <a:extLst>
              <a:ext uri="{FF2B5EF4-FFF2-40B4-BE49-F238E27FC236}">
                <a16:creationId xmlns:a16="http://schemas.microsoft.com/office/drawing/2014/main" id="{1FA28846-082E-48A3-A4AE-13AB93F5D0DF}"/>
              </a:ext>
            </a:extLst>
          </p:cNvPr>
          <p:cNvSpPr>
            <a:spLocks noGrp="1"/>
          </p:cNvSpPr>
          <p:nvPr/>
        </p:nvSpPr>
        <p:spPr>
          <a:xfrm>
            <a:off x="6191250" y="1504950"/>
            <a:ext cx="4381500" cy="304800"/>
          </a:xfrm>
          <a:prstGeom prst="rect">
            <a:avLst/>
          </a:prstGeom>
          <a:noFill/>
          <a:ln w="0">
            <a:noFill/>
            <a:prstDash val="solid"/>
          </a:ln>
        </p:spPr>
        <p:txBody>
          <a:bodyPr/>
          <a:lstStyle/>
          <a:p>
            <a:pPr algn="l">
              <a:defRPr sz="1875" b="1">
                <a:solidFill>
                  <a:srgbClr val="F26A21"/>
                </a:solidFill>
              </a:defRPr>
            </a:pPr>
            <a:r>
              <a:rPr sz="1875" b="1">
                <a:solidFill>
                  <a:srgbClr val="F26A21"/>
                </a:solidFill>
              </a:rPr>
              <a:t>How calculations were checked</a:t>
            </a:r>
          </a:p>
        </p:txBody>
      </p:sp>
      <p:sp>
        <p:nvSpPr>
          <p:cNvPr id="12" name="Rectangle 11">
            <a:extLst>
              <a:ext uri="{FF2B5EF4-FFF2-40B4-BE49-F238E27FC236}">
                <a16:creationId xmlns:a16="http://schemas.microsoft.com/office/drawing/2014/main" id="{50B8218B-B731-4A0D-98F0-BD1DF51D7E8F}"/>
              </a:ext>
            </a:extLst>
          </p:cNvPr>
          <p:cNvSpPr>
            <a:spLocks noGrp="1"/>
          </p:cNvSpPr>
          <p:nvPr/>
        </p:nvSpPr>
        <p:spPr>
          <a:xfrm>
            <a:off x="6191250" y="2000250"/>
            <a:ext cx="4857750" cy="2047875"/>
          </a:xfrm>
          <a:prstGeom prst="rect">
            <a:avLst/>
          </a:prstGeom>
          <a:noFill/>
          <a:ln w="0">
            <a:noFill/>
            <a:prstDash val="solid"/>
          </a:ln>
        </p:spPr>
        <p:txBody>
          <a:bodyPr/>
          <a:lstStyle/>
          <a:p>
            <a:pPr algn="l">
              <a:defRPr sz="1650" b="0">
                <a:solidFill>
                  <a:srgbClr val="050505"/>
                </a:solidFill>
              </a:defRPr>
            </a:pPr>
            <a:r>
              <a:rPr sz="1650" b="0">
                <a:solidFill>
                  <a:srgbClr val="050505"/>
                </a:solidFill>
              </a:rPr>
              <a:t>Category labels were standardised, numeric fields were checked for valid ranges and churn percentages were calculated as churned customers divided by customers in each group. The total was reconciled to 7,963 retained and 2,037 exited customers.</a:t>
            </a:r>
          </a:p>
        </p:txBody>
      </p:sp>
      <p:sp>
        <p:nvSpPr>
          <p:cNvPr id="13" name="Rectangle: Rounded Corners 12">
            <a:extLst>
              <a:ext uri="{FF2B5EF4-FFF2-40B4-BE49-F238E27FC236}">
                <a16:creationId xmlns:a16="http://schemas.microsoft.com/office/drawing/2014/main" id="{358CF95B-13D3-4A43-8554-5B3B13C5A1E6}"/>
              </a:ext>
            </a:extLst>
          </p:cNvPr>
          <p:cNvSpPr>
            <a:spLocks noGrp="1"/>
          </p:cNvSpPr>
          <p:nvPr/>
        </p:nvSpPr>
        <p:spPr>
          <a:xfrm>
            <a:off x="6191250" y="4343400"/>
            <a:ext cx="4857750" cy="742950"/>
          </a:xfrm>
          <a:prstGeom prst="roundRect">
            <a:avLst>
              <a:gd name="adj" fmla="val 10256"/>
            </a:avLst>
          </a:prstGeom>
          <a:solidFill>
            <a:srgbClr val="FFF4EC"/>
          </a:solidFill>
          <a:ln w="0">
            <a:noFill/>
            <a:prstDash val="solid"/>
          </a:ln>
        </p:spPr>
      </p:sp>
      <p:sp>
        <p:nvSpPr>
          <p:cNvPr id="14" name="Rectangle 13">
            <a:extLst>
              <a:ext uri="{FF2B5EF4-FFF2-40B4-BE49-F238E27FC236}">
                <a16:creationId xmlns:a16="http://schemas.microsoft.com/office/drawing/2014/main" id="{C4285B95-506E-4984-8BAE-38C9AC7806AE}"/>
              </a:ext>
            </a:extLst>
          </p:cNvPr>
          <p:cNvSpPr>
            <a:spLocks noGrp="1"/>
          </p:cNvSpPr>
          <p:nvPr/>
        </p:nvSpPr>
        <p:spPr>
          <a:xfrm>
            <a:off x="6429375" y="4552950"/>
            <a:ext cx="4400550" cy="400050"/>
          </a:xfrm>
          <a:prstGeom prst="rect">
            <a:avLst/>
          </a:prstGeom>
          <a:noFill/>
          <a:ln w="0">
            <a:noFill/>
            <a:prstDash val="solid"/>
          </a:ln>
        </p:spPr>
        <p:txBody>
          <a:bodyPr/>
          <a:lstStyle/>
          <a:p>
            <a:pPr algn="l">
              <a:defRPr sz="1500" b="1">
                <a:solidFill>
                  <a:srgbClr val="050505"/>
                </a:solidFill>
              </a:defRPr>
            </a:pPr>
            <a:r>
              <a:rPr sz="1500" b="1">
                <a:solidFill>
                  <a:srgbClr val="050505"/>
                </a:solidFill>
              </a:rPr>
              <a:t>Final validation: 7,963 retained + 2,037 churned = 10,000</a:t>
            </a:r>
          </a:p>
        </p:txBody>
      </p:sp>
      <p:sp>
        <p:nvSpPr>
          <p:cNvPr id="15" name="Rectangle: Rounded Corners 14">
            <a:extLst>
              <a:ext uri="{FF2B5EF4-FFF2-40B4-BE49-F238E27FC236}">
                <a16:creationId xmlns:a16="http://schemas.microsoft.com/office/drawing/2014/main" id="{CC3FDA0F-DAD4-4042-A1F1-DBA47AFB2114}"/>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16" name="Rectangle 15">
            <a:extLst>
              <a:ext uri="{FF2B5EF4-FFF2-40B4-BE49-F238E27FC236}">
                <a16:creationId xmlns:a16="http://schemas.microsoft.com/office/drawing/2014/main" id="{2562A51A-7217-4C45-A446-731FD625AAE1}"/>
              </a:ext>
            </a:extLst>
          </p:cNvPr>
          <p:cNvSpPr>
            <a:spLocks noGrp="1"/>
          </p:cNvSpPr>
          <p:nvPr/>
        </p:nvSpPr>
        <p:spPr>
          <a:xfrm>
            <a:off x="552450" y="5143500"/>
            <a:ext cx="76200" cy="1066800"/>
          </a:xfrm>
          <a:prstGeom prst="rect">
            <a:avLst/>
          </a:prstGeom>
          <a:solidFill>
            <a:srgbClr val="F26A21"/>
          </a:solidFill>
          <a:ln w="0">
            <a:noFill/>
            <a:prstDash val="solid"/>
          </a:ln>
        </p:spPr>
      </p:sp>
      <p:sp>
        <p:nvSpPr>
          <p:cNvPr id="17" name="Rectangle 16">
            <a:extLst>
              <a:ext uri="{FF2B5EF4-FFF2-40B4-BE49-F238E27FC236}">
                <a16:creationId xmlns:a16="http://schemas.microsoft.com/office/drawing/2014/main" id="{7EC45F02-B272-4C39-BE93-4C852CAA57D2}"/>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Grouping continuous fields makes the patterns easier to communicate, while retaining the original numeric columns means averages and detailed investigation remain possible.</a:t>
            </a:r>
          </a:p>
        </p:txBody>
      </p:sp>
    </p:spTree>
    <p:extLst>
      <p:ext uri="{BB962C8B-B14F-4D97-AF65-F5344CB8AC3E}">
        <p14:creationId xmlns:p14="http://schemas.microsoft.com/office/powerpoint/2010/main" val="554594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033BBA-F03B-4B3B-B626-E973CDF0FA58}"/>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dirty="0">
                <a:solidFill>
                  <a:srgbClr val="F26A21"/>
                </a:solidFill>
              </a:rPr>
              <a:t>EXECUTIVE DASHBOARD</a:t>
            </a:r>
          </a:p>
        </p:txBody>
      </p:sp>
      <p:pic>
        <p:nvPicPr>
          <p:cNvPr id="6" name="Picture 5">
            <a:extLst>
              <a:ext uri="{FF2B5EF4-FFF2-40B4-BE49-F238E27FC236}">
                <a16:creationId xmlns:a16="http://schemas.microsoft.com/office/drawing/2014/main" id="{0403FF81-ED75-4F2F-8515-9FC476FE9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6605"/>
            <a:ext cx="12192000" cy="5184789"/>
          </a:xfrm>
          <a:prstGeom prst="rect">
            <a:avLst/>
          </a:prstGeom>
        </p:spPr>
      </p:pic>
    </p:spTree>
    <p:extLst>
      <p:ext uri="{BB962C8B-B14F-4D97-AF65-F5344CB8AC3E}">
        <p14:creationId xmlns:p14="http://schemas.microsoft.com/office/powerpoint/2010/main" val="323025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1ED97AC-C368-4462-8CD3-237943E76F08}"/>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C4080851-9112-46F4-86A9-3140D3F78798}"/>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172ACB7D-3262-4FCD-AD5F-15BE6CA331D8}"/>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2,037 customers exited during the period</a:t>
            </a:r>
          </a:p>
        </p:txBody>
      </p:sp>
      <p:sp>
        <p:nvSpPr>
          <p:cNvPr id="4" name="Rectangle 3">
            <a:extLst>
              <a:ext uri="{FF2B5EF4-FFF2-40B4-BE49-F238E27FC236}">
                <a16:creationId xmlns:a16="http://schemas.microsoft.com/office/drawing/2014/main" id="{05FDCB28-B757-4981-AECD-14A6D45EB564}"/>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91E07800-559C-41AA-939B-CC992B9FDC57}"/>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05</a:t>
            </a:r>
          </a:p>
        </p:txBody>
      </p:sp>
      <p:sp>
        <p:nvSpPr>
          <p:cNvPr id="7" name="Rectangle 6">
            <a:extLst>
              <a:ext uri="{FF2B5EF4-FFF2-40B4-BE49-F238E27FC236}">
                <a16:creationId xmlns:a16="http://schemas.microsoft.com/office/drawing/2014/main" id="{691E478F-E905-447D-BE1D-6F86CF3A64BD}"/>
              </a:ext>
            </a:extLst>
          </p:cNvPr>
          <p:cNvSpPr>
            <a:spLocks noGrp="1"/>
          </p:cNvSpPr>
          <p:nvPr/>
        </p:nvSpPr>
        <p:spPr>
          <a:xfrm>
            <a:off x="6762750" y="2047875"/>
            <a:ext cx="3667125" cy="666750"/>
          </a:xfrm>
          <a:prstGeom prst="rect">
            <a:avLst/>
          </a:prstGeom>
          <a:noFill/>
          <a:ln w="0">
            <a:noFill/>
            <a:prstDash val="solid"/>
          </a:ln>
        </p:spPr>
        <p:txBody>
          <a:bodyPr/>
          <a:lstStyle/>
          <a:p>
            <a:pPr algn="ctr">
              <a:defRPr sz="4050" b="1">
                <a:solidFill>
                  <a:srgbClr val="F26A21"/>
                </a:solidFill>
              </a:defRPr>
            </a:pPr>
            <a:r>
              <a:rPr sz="4050" b="1">
                <a:solidFill>
                  <a:srgbClr val="F26A21"/>
                </a:solidFill>
              </a:rPr>
              <a:t>20.37%</a:t>
            </a:r>
          </a:p>
        </p:txBody>
      </p:sp>
      <p:sp>
        <p:nvSpPr>
          <p:cNvPr id="8" name="Rectangle 7">
            <a:extLst>
              <a:ext uri="{FF2B5EF4-FFF2-40B4-BE49-F238E27FC236}">
                <a16:creationId xmlns:a16="http://schemas.microsoft.com/office/drawing/2014/main" id="{BC1AB882-B4D9-4715-9F43-F0ADEC3DE5BF}"/>
              </a:ext>
            </a:extLst>
          </p:cNvPr>
          <p:cNvSpPr>
            <a:spLocks noGrp="1"/>
          </p:cNvSpPr>
          <p:nvPr/>
        </p:nvSpPr>
        <p:spPr>
          <a:xfrm>
            <a:off x="6762750" y="2781300"/>
            <a:ext cx="3667125" cy="361950"/>
          </a:xfrm>
          <a:prstGeom prst="rect">
            <a:avLst/>
          </a:prstGeom>
          <a:noFill/>
          <a:ln w="0">
            <a:noFill/>
            <a:prstDash val="solid"/>
          </a:ln>
        </p:spPr>
        <p:txBody>
          <a:bodyPr/>
          <a:lstStyle/>
          <a:p>
            <a:pPr algn="ctr">
              <a:defRPr sz="1800" b="1">
                <a:solidFill>
                  <a:srgbClr val="050505"/>
                </a:solidFill>
              </a:defRPr>
            </a:pPr>
            <a:r>
              <a:rPr sz="1800" b="1">
                <a:solidFill>
                  <a:srgbClr val="050505"/>
                </a:solidFill>
              </a:rPr>
              <a:t>overall customer churn</a:t>
            </a:r>
          </a:p>
        </p:txBody>
      </p:sp>
      <p:sp>
        <p:nvSpPr>
          <p:cNvPr id="9" name="Rectangle 8">
            <a:extLst>
              <a:ext uri="{FF2B5EF4-FFF2-40B4-BE49-F238E27FC236}">
                <a16:creationId xmlns:a16="http://schemas.microsoft.com/office/drawing/2014/main" id="{E695F481-9CCE-4641-A9D5-7DAA3297D98C}"/>
              </a:ext>
            </a:extLst>
          </p:cNvPr>
          <p:cNvSpPr>
            <a:spLocks noGrp="1"/>
          </p:cNvSpPr>
          <p:nvPr/>
        </p:nvSpPr>
        <p:spPr>
          <a:xfrm>
            <a:off x="6762750" y="3333750"/>
            <a:ext cx="3667125" cy="933450"/>
          </a:xfrm>
          <a:prstGeom prst="rect">
            <a:avLst/>
          </a:prstGeom>
          <a:noFill/>
          <a:ln w="0">
            <a:noFill/>
            <a:prstDash val="solid"/>
          </a:ln>
        </p:spPr>
        <p:txBody>
          <a:bodyPr/>
          <a:lstStyle/>
          <a:p>
            <a:pPr algn="ctr">
              <a:defRPr sz="1725" b="0">
                <a:solidFill>
                  <a:srgbClr val="60646C"/>
                </a:solidFill>
              </a:defRPr>
            </a:pPr>
            <a:r>
              <a:rPr sz="1725" b="0">
                <a:solidFill>
                  <a:srgbClr val="60646C"/>
                </a:solidFill>
              </a:rPr>
              <a:t>Approximately one customer left for every four customers retained.</a:t>
            </a:r>
          </a:p>
        </p:txBody>
      </p:sp>
      <p:sp>
        <p:nvSpPr>
          <p:cNvPr id="10" name="Rectangle: Rounded Corners 9">
            <a:extLst>
              <a:ext uri="{FF2B5EF4-FFF2-40B4-BE49-F238E27FC236}">
                <a16:creationId xmlns:a16="http://schemas.microsoft.com/office/drawing/2014/main" id="{E58A70EC-6FF4-42C9-B682-33149E5FA658}"/>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11" name="Rectangle 10">
            <a:extLst>
              <a:ext uri="{FF2B5EF4-FFF2-40B4-BE49-F238E27FC236}">
                <a16:creationId xmlns:a16="http://schemas.microsoft.com/office/drawing/2014/main" id="{311AFD8B-B516-411F-BAD6-FF2C6F0C4FB6}"/>
              </a:ext>
            </a:extLst>
          </p:cNvPr>
          <p:cNvSpPr>
            <a:spLocks noGrp="1"/>
          </p:cNvSpPr>
          <p:nvPr/>
        </p:nvSpPr>
        <p:spPr>
          <a:xfrm>
            <a:off x="552450" y="5143500"/>
            <a:ext cx="76200" cy="1066800"/>
          </a:xfrm>
          <a:prstGeom prst="rect">
            <a:avLst/>
          </a:prstGeom>
          <a:solidFill>
            <a:srgbClr val="F26A21"/>
          </a:solidFill>
          <a:ln w="0">
            <a:noFill/>
            <a:prstDash val="solid"/>
          </a:ln>
        </p:spPr>
      </p:sp>
      <p:sp>
        <p:nvSpPr>
          <p:cNvPr id="12" name="Rectangle 11">
            <a:extLst>
              <a:ext uri="{FF2B5EF4-FFF2-40B4-BE49-F238E27FC236}">
                <a16:creationId xmlns:a16="http://schemas.microsoft.com/office/drawing/2014/main" id="{D0159BB8-313A-4F2F-905C-3FBF9AFB3307}"/>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The headline churn rate provides the baseline for every other comparison. Groups substantially above 20.37% deserve priority attention, while groups below it can help reveal behaviours linked with stronger retention.</a:t>
            </a:r>
          </a:p>
        </p:txBody>
      </p:sp>
      <p:graphicFrame>
        <p:nvGraphicFramePr>
          <p:cNvPr id="14" name="Chart 13">
            <a:extLst>
              <a:ext uri="{FF2B5EF4-FFF2-40B4-BE49-F238E27FC236}">
                <a16:creationId xmlns:a16="http://schemas.microsoft.com/office/drawing/2014/main" id="{F5185FC8-232E-4CBA-9610-8CEDB4B31F61}"/>
              </a:ext>
            </a:extLst>
          </p:cNvPr>
          <p:cNvGraphicFramePr>
            <a:graphicFrameLocks/>
          </p:cNvGraphicFramePr>
          <p:nvPr>
            <p:extLst>
              <p:ext uri="{D42A27DB-BD31-4B8C-83A1-F6EECF244321}">
                <p14:modId xmlns:p14="http://schemas.microsoft.com/office/powerpoint/2010/main" val="3195026286"/>
              </p:ext>
            </p:extLst>
          </p:nvPr>
        </p:nvGraphicFramePr>
        <p:xfrm>
          <a:off x="1514475" y="19431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43453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33152F6-AB7C-4280-9B2B-2C68C4456C4A}"/>
              </a:ext>
            </a:extLst>
          </p:cNvPr>
          <p:cNvSpPr>
            <a:spLocks noGrp="1"/>
          </p:cNvSpPr>
          <p:nvPr/>
        </p:nvSpPr>
        <p:spPr>
          <a:xfrm>
            <a:off x="0" y="0"/>
            <a:ext cx="171450" cy="6858000"/>
          </a:xfrm>
          <a:prstGeom prst="rect">
            <a:avLst/>
          </a:prstGeom>
          <a:solidFill>
            <a:srgbClr val="F26A1E"/>
          </a:solidFill>
          <a:ln w="0">
            <a:noFill/>
            <a:prstDash val="solid"/>
          </a:ln>
        </p:spPr>
      </p:sp>
      <p:sp>
        <p:nvSpPr>
          <p:cNvPr id="2" name="Rectangle 1">
            <a:extLst>
              <a:ext uri="{FF2B5EF4-FFF2-40B4-BE49-F238E27FC236}">
                <a16:creationId xmlns:a16="http://schemas.microsoft.com/office/drawing/2014/main" id="{9A0A30DF-A8D9-4656-86BD-332B6907CC95}"/>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AC9C3C3F-D0D7-401D-9C32-D635FED0D6BD}"/>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Middle-aged customers show the highest age-based churn</a:t>
            </a:r>
          </a:p>
        </p:txBody>
      </p:sp>
      <p:sp>
        <p:nvSpPr>
          <p:cNvPr id="4" name="Rectangle 3">
            <a:extLst>
              <a:ext uri="{FF2B5EF4-FFF2-40B4-BE49-F238E27FC236}">
                <a16:creationId xmlns:a16="http://schemas.microsoft.com/office/drawing/2014/main" id="{4161314D-A1EA-46D4-AE0E-00A99DA55E4F}"/>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CD320B74-2AD6-4346-A4FD-3DF08A75CFFD}"/>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06</a:t>
            </a:r>
          </a:p>
        </p:txBody>
      </p:sp>
      <p:sp>
        <p:nvSpPr>
          <p:cNvPr id="7" name="Rectangle: Rounded Corners 6">
            <a:extLst>
              <a:ext uri="{FF2B5EF4-FFF2-40B4-BE49-F238E27FC236}">
                <a16:creationId xmlns:a16="http://schemas.microsoft.com/office/drawing/2014/main" id="{F5260982-E850-43C7-AEF3-02CB5F59443B}"/>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AC048332-2E91-4E4F-8BD1-2B2CA8079844}"/>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1502C22B-9EF9-4A52-91AC-C87F885DBF54}"/>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Middle-aged customers churn at 49.45%, more than six times the 7.56% rate among young customers. The pattern suggests that life-stage needs, service expectations or product relevance may change sharply as customers age.</a:t>
            </a:r>
          </a:p>
        </p:txBody>
      </p:sp>
      <p:graphicFrame>
        <p:nvGraphicFramePr>
          <p:cNvPr id="11" name="Chart 10">
            <a:extLst>
              <a:ext uri="{FF2B5EF4-FFF2-40B4-BE49-F238E27FC236}">
                <a16:creationId xmlns:a16="http://schemas.microsoft.com/office/drawing/2014/main" id="{68AF1532-43AB-4299-A26C-E70B16FC4B2F}"/>
              </a:ext>
            </a:extLst>
          </p:cNvPr>
          <p:cNvGraphicFramePr>
            <a:graphicFrameLocks/>
          </p:cNvGraphicFramePr>
          <p:nvPr>
            <p:extLst>
              <p:ext uri="{D42A27DB-BD31-4B8C-83A1-F6EECF244321}">
                <p14:modId xmlns:p14="http://schemas.microsoft.com/office/powerpoint/2010/main" val="251321644"/>
              </p:ext>
            </p:extLst>
          </p:nvPr>
        </p:nvGraphicFramePr>
        <p:xfrm>
          <a:off x="1309687" y="1600201"/>
          <a:ext cx="9248775" cy="33051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9014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C67547-071D-4D2F-8D7A-540485CBC5C2}"/>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F5D1C2B5-E157-4E88-9AAE-54E86AE84840}"/>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AFB4C497-7AEE-41EB-9FC8-F98AC698B39F}"/>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Female customers record a much higher churn rate</a:t>
            </a:r>
          </a:p>
        </p:txBody>
      </p:sp>
      <p:sp>
        <p:nvSpPr>
          <p:cNvPr id="4" name="Rectangle 3">
            <a:extLst>
              <a:ext uri="{FF2B5EF4-FFF2-40B4-BE49-F238E27FC236}">
                <a16:creationId xmlns:a16="http://schemas.microsoft.com/office/drawing/2014/main" id="{C72FF190-66EA-49FC-8227-0CA28BF2EC18}"/>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9AE3FB3F-963D-410A-BBB1-A2029EA24F66}"/>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07</a:t>
            </a:r>
          </a:p>
        </p:txBody>
      </p:sp>
      <p:sp>
        <p:nvSpPr>
          <p:cNvPr id="7" name="Rectangle: Rounded Corners 6">
            <a:extLst>
              <a:ext uri="{FF2B5EF4-FFF2-40B4-BE49-F238E27FC236}">
                <a16:creationId xmlns:a16="http://schemas.microsoft.com/office/drawing/2014/main" id="{47F71F13-BDA1-4DE2-B502-6F94B993C363}"/>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A92214E1-3D6B-4C5F-B643-9D9785E7C20E}"/>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FB0173BE-453A-4084-A615-A73D68C80132}"/>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Female churn is 25.07% compared with 16.46% for male customers—an 8.61 percentage-point gap. The difference should prompt deeper investigation into product use and service experience rather than assumptions based on gender alone.</a:t>
            </a:r>
          </a:p>
        </p:txBody>
      </p:sp>
      <p:graphicFrame>
        <p:nvGraphicFramePr>
          <p:cNvPr id="11" name="Chart 10">
            <a:extLst>
              <a:ext uri="{FF2B5EF4-FFF2-40B4-BE49-F238E27FC236}">
                <a16:creationId xmlns:a16="http://schemas.microsoft.com/office/drawing/2014/main" id="{5F820AAF-5DD7-46A5-835D-5D481D574AB0}"/>
              </a:ext>
            </a:extLst>
          </p:cNvPr>
          <p:cNvGraphicFramePr>
            <a:graphicFrameLocks/>
          </p:cNvGraphicFramePr>
          <p:nvPr>
            <p:extLst>
              <p:ext uri="{D42A27DB-BD31-4B8C-83A1-F6EECF244321}">
                <p14:modId xmlns:p14="http://schemas.microsoft.com/office/powerpoint/2010/main" val="1929386691"/>
              </p:ext>
            </p:extLst>
          </p:nvPr>
        </p:nvGraphicFramePr>
        <p:xfrm>
          <a:off x="1012875" y="1538362"/>
          <a:ext cx="9636368" cy="343661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541504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4E558-E855-4271-A5FA-573A9D8F180D}"/>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A46C9CB9-94B9-4C80-9CC7-7B46EE79B791}"/>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B9B4ADF4-5CB9-47F7-A5CC-630C648C595B}"/>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Inactive customers are almost twice as likely to leave</a:t>
            </a:r>
          </a:p>
        </p:txBody>
      </p:sp>
      <p:sp>
        <p:nvSpPr>
          <p:cNvPr id="4" name="Rectangle 3">
            <a:extLst>
              <a:ext uri="{FF2B5EF4-FFF2-40B4-BE49-F238E27FC236}">
                <a16:creationId xmlns:a16="http://schemas.microsoft.com/office/drawing/2014/main" id="{EB701EB5-C358-4D32-8F39-1460BBE8CCB5}"/>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A476712E-DB2B-492F-8122-113911509DC0}"/>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08</a:t>
            </a:r>
          </a:p>
        </p:txBody>
      </p:sp>
      <p:sp>
        <p:nvSpPr>
          <p:cNvPr id="7" name="Rectangle: Rounded Corners 6">
            <a:extLst>
              <a:ext uri="{FF2B5EF4-FFF2-40B4-BE49-F238E27FC236}">
                <a16:creationId xmlns:a16="http://schemas.microsoft.com/office/drawing/2014/main" id="{9C06FD67-62FD-4FE3-A70B-F4F88ABA841F}"/>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0EA7BB21-5E06-4983-B17F-C0A06CDBBA4E}"/>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407D8C2C-03F3-4AB5-A4A5-FB7B2DD9758D}"/>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Inactive members record a 26.85% churn rate, compared with 14.27% for active members. This 12.58-point difference makes declining activity one of the strongest practical early-warning indicators in the dataset.</a:t>
            </a:r>
          </a:p>
        </p:txBody>
      </p:sp>
      <p:graphicFrame>
        <p:nvGraphicFramePr>
          <p:cNvPr id="11" name="Chart 10">
            <a:extLst>
              <a:ext uri="{FF2B5EF4-FFF2-40B4-BE49-F238E27FC236}">
                <a16:creationId xmlns:a16="http://schemas.microsoft.com/office/drawing/2014/main" id="{C45D3180-A016-4820-963F-C36E309C69D1}"/>
              </a:ext>
            </a:extLst>
          </p:cNvPr>
          <p:cNvGraphicFramePr>
            <a:graphicFrameLocks/>
          </p:cNvGraphicFramePr>
          <p:nvPr>
            <p:extLst>
              <p:ext uri="{D42A27DB-BD31-4B8C-83A1-F6EECF244321}">
                <p14:modId xmlns:p14="http://schemas.microsoft.com/office/powerpoint/2010/main" val="117073533"/>
              </p:ext>
            </p:extLst>
          </p:nvPr>
        </p:nvGraphicFramePr>
        <p:xfrm>
          <a:off x="1589649" y="1589650"/>
          <a:ext cx="7948246" cy="300854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1509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CA3DA2-F711-4134-825A-7F6FF7099E56}"/>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EECBD56F-5DBE-4600-BA5E-3880001C74B8}"/>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82D01B27-5F8C-4130-B137-09DD2FDC806C}"/>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Product ownership reveals both loyalty and overload</a:t>
            </a:r>
          </a:p>
        </p:txBody>
      </p:sp>
      <p:sp>
        <p:nvSpPr>
          <p:cNvPr id="4" name="Rectangle 3">
            <a:extLst>
              <a:ext uri="{FF2B5EF4-FFF2-40B4-BE49-F238E27FC236}">
                <a16:creationId xmlns:a16="http://schemas.microsoft.com/office/drawing/2014/main" id="{71D41703-8B35-4822-B7F9-4268FAE2A514}"/>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837C628C-F778-4C7B-BC1D-45FD7BE324D1}"/>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09</a:t>
            </a:r>
          </a:p>
        </p:txBody>
      </p:sp>
      <p:sp>
        <p:nvSpPr>
          <p:cNvPr id="7" name="Rectangle: Rounded Corners 6">
            <a:extLst>
              <a:ext uri="{FF2B5EF4-FFF2-40B4-BE49-F238E27FC236}">
                <a16:creationId xmlns:a16="http://schemas.microsoft.com/office/drawing/2014/main" id="{FF953B1C-04F9-4739-BC4B-5E54B382DFDE}"/>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ED4092A0-4D4E-48DF-B3CC-558BCAC2229C}"/>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F8C1282A-8ADE-43E9-95BF-CAE8F073737F}"/>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Two-product customers are the most stable at 7.58%, while churn rises to 82.71% for three products and 100% for four. The four-product group contains only 60 customers, but the extreme result still suggests product complexity, suitability or servicing problems.</a:t>
            </a:r>
          </a:p>
        </p:txBody>
      </p:sp>
      <p:graphicFrame>
        <p:nvGraphicFramePr>
          <p:cNvPr id="11" name="Chart 10">
            <a:extLst>
              <a:ext uri="{FF2B5EF4-FFF2-40B4-BE49-F238E27FC236}">
                <a16:creationId xmlns:a16="http://schemas.microsoft.com/office/drawing/2014/main" id="{6202481F-55B1-4CC8-9A63-D60D8D65AF50}"/>
              </a:ext>
            </a:extLst>
          </p:cNvPr>
          <p:cNvGraphicFramePr>
            <a:graphicFrameLocks/>
          </p:cNvGraphicFramePr>
          <p:nvPr>
            <p:extLst>
              <p:ext uri="{D42A27DB-BD31-4B8C-83A1-F6EECF244321}">
                <p14:modId xmlns:p14="http://schemas.microsoft.com/office/powerpoint/2010/main" val="4252190373"/>
              </p:ext>
            </p:extLst>
          </p:nvPr>
        </p:nvGraphicFramePr>
        <p:xfrm>
          <a:off x="1111348" y="1491175"/>
          <a:ext cx="8285870" cy="32396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533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153DA7-FB37-434D-B211-49F020EC8A5D}"/>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ABF9B141-93B8-446C-BABD-13C578E151D8}"/>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067090E1-C9F7-4E61-89D1-31C283B18DB1}"/>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Churn increases in several higher-balance groups</a:t>
            </a:r>
          </a:p>
        </p:txBody>
      </p:sp>
      <p:sp>
        <p:nvSpPr>
          <p:cNvPr id="4" name="Rectangle 3">
            <a:extLst>
              <a:ext uri="{FF2B5EF4-FFF2-40B4-BE49-F238E27FC236}">
                <a16:creationId xmlns:a16="http://schemas.microsoft.com/office/drawing/2014/main" id="{9CD9E068-A5B3-4258-84FB-828F0DAEBA03}"/>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8389D133-8EDF-453C-8DED-50FF2E018932}"/>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10</a:t>
            </a:r>
          </a:p>
        </p:txBody>
      </p:sp>
      <p:sp>
        <p:nvSpPr>
          <p:cNvPr id="7" name="Rectangle: Rounded Corners 6">
            <a:extLst>
              <a:ext uri="{FF2B5EF4-FFF2-40B4-BE49-F238E27FC236}">
                <a16:creationId xmlns:a16="http://schemas.microsoft.com/office/drawing/2014/main" id="{DE9E3224-A0DE-4C7E-9A0E-DB31488F9377}"/>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5D2CEEBC-3E5F-4FD8-9DFE-073390701BAC}"/>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2E9F48A1-0A3F-4FA3-B391-DEA2EC182FCF}"/>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Zero-balance customers have the lowest churn at 13.82%, while the very small above-₦200K group reaches 55.88%. Because the highest band contains only 34 customers, the bank should prioritise individual review of these valuable accounts rather than generalise from the rate alone.</a:t>
            </a:r>
          </a:p>
        </p:txBody>
      </p:sp>
      <p:graphicFrame>
        <p:nvGraphicFramePr>
          <p:cNvPr id="11" name="Chart 10">
            <a:extLst>
              <a:ext uri="{FF2B5EF4-FFF2-40B4-BE49-F238E27FC236}">
                <a16:creationId xmlns:a16="http://schemas.microsoft.com/office/drawing/2014/main" id="{2B210DF1-97BA-461F-8702-B6D0470E8C53}"/>
              </a:ext>
            </a:extLst>
          </p:cNvPr>
          <p:cNvGraphicFramePr>
            <a:graphicFrameLocks/>
          </p:cNvGraphicFramePr>
          <p:nvPr>
            <p:extLst>
              <p:ext uri="{D42A27DB-BD31-4B8C-83A1-F6EECF244321}">
                <p14:modId xmlns:p14="http://schemas.microsoft.com/office/powerpoint/2010/main" val="3923687950"/>
              </p:ext>
            </p:extLst>
          </p:nvPr>
        </p:nvGraphicFramePr>
        <p:xfrm>
          <a:off x="1392701" y="1562100"/>
          <a:ext cx="9059593" cy="3238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7044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C11899-D7DC-4C5C-9E1E-1FBAB6641F66}"/>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9990230F-4822-4922-8006-BE32291FB606}"/>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522078D9-30C5-4A52-9212-A98184AE9513}"/>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Port Harcourt and Lagos record the highest location rates</a:t>
            </a:r>
          </a:p>
        </p:txBody>
      </p:sp>
      <p:sp>
        <p:nvSpPr>
          <p:cNvPr id="4" name="Rectangle 3">
            <a:extLst>
              <a:ext uri="{FF2B5EF4-FFF2-40B4-BE49-F238E27FC236}">
                <a16:creationId xmlns:a16="http://schemas.microsoft.com/office/drawing/2014/main" id="{56851E76-3F0D-48D5-AE8D-90714D89A020}"/>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D4AE09CF-15C6-4CB7-8D6A-CB9AF19DF247}"/>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11</a:t>
            </a:r>
          </a:p>
        </p:txBody>
      </p:sp>
      <p:sp>
        <p:nvSpPr>
          <p:cNvPr id="7" name="Rectangle: Rounded Corners 6">
            <a:extLst>
              <a:ext uri="{FF2B5EF4-FFF2-40B4-BE49-F238E27FC236}">
                <a16:creationId xmlns:a16="http://schemas.microsoft.com/office/drawing/2014/main" id="{FC8EC9BA-E7E7-40D8-9965-2F03C7E6E175}"/>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87A8BC8C-C7B2-42A3-B343-0E3392A9E806}"/>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06AC24C2-5F12-44A0-AE2F-57E8B910C44D}"/>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Location differences are modest: Port Harcourt reaches 22.00% and Ibadan 18.87%, a spread of only 3.13 points. Geography matters less than age, activity or product ownership, so branch-level action should follow deeper customer-level analysis.</a:t>
            </a:r>
          </a:p>
        </p:txBody>
      </p:sp>
      <p:graphicFrame>
        <p:nvGraphicFramePr>
          <p:cNvPr id="11" name="Chart 10">
            <a:extLst>
              <a:ext uri="{FF2B5EF4-FFF2-40B4-BE49-F238E27FC236}">
                <a16:creationId xmlns:a16="http://schemas.microsoft.com/office/drawing/2014/main" id="{D64200CA-3626-4681-80E0-442941C3A742}"/>
              </a:ext>
            </a:extLst>
          </p:cNvPr>
          <p:cNvGraphicFramePr>
            <a:graphicFrameLocks/>
          </p:cNvGraphicFramePr>
          <p:nvPr>
            <p:extLst>
              <p:ext uri="{D42A27DB-BD31-4B8C-83A1-F6EECF244321}">
                <p14:modId xmlns:p14="http://schemas.microsoft.com/office/powerpoint/2010/main" val="3186356294"/>
              </p:ext>
            </p:extLst>
          </p:nvPr>
        </p:nvGraphicFramePr>
        <p:xfrm>
          <a:off x="998807" y="1477108"/>
          <a:ext cx="8904848" cy="353304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94177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609B272-C431-423B-A49E-C35B7289B3A5}"/>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A3B1AE47-95EF-454B-953B-7396D88EF0A9}"/>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EE750C6C-9451-42FD-9D62-3E4DDA370B8D}"/>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Customer tenure has only a limited relationship with churn</a:t>
            </a:r>
          </a:p>
        </p:txBody>
      </p:sp>
      <p:sp>
        <p:nvSpPr>
          <p:cNvPr id="4" name="Rectangle 3">
            <a:extLst>
              <a:ext uri="{FF2B5EF4-FFF2-40B4-BE49-F238E27FC236}">
                <a16:creationId xmlns:a16="http://schemas.microsoft.com/office/drawing/2014/main" id="{943F30E0-C199-4803-A4CC-0DDEA8FD3270}"/>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3BB1A87C-0CA4-41D5-932B-345FE08F47E1}"/>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12</a:t>
            </a:r>
          </a:p>
        </p:txBody>
      </p:sp>
      <p:sp>
        <p:nvSpPr>
          <p:cNvPr id="7" name="Rectangle: Rounded Corners 6">
            <a:extLst>
              <a:ext uri="{FF2B5EF4-FFF2-40B4-BE49-F238E27FC236}">
                <a16:creationId xmlns:a16="http://schemas.microsoft.com/office/drawing/2014/main" id="{B8186317-8976-466D-9C0B-60EB5BEEFA32}"/>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62DF7761-2620-459B-BAE3-CB45E8D6E33A}"/>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3661FFD4-B0A4-40DF-BF7A-14A2865E26D6}"/>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Churn ranges narrowly from 18.87% to 21.30% across tenure groups. Long service alone does not guarantee retention, and the bank should avoid relying on tenure without also considering activity, age and product experience.</a:t>
            </a:r>
          </a:p>
        </p:txBody>
      </p:sp>
      <p:graphicFrame>
        <p:nvGraphicFramePr>
          <p:cNvPr id="11" name="Chart 10">
            <a:extLst>
              <a:ext uri="{FF2B5EF4-FFF2-40B4-BE49-F238E27FC236}">
                <a16:creationId xmlns:a16="http://schemas.microsoft.com/office/drawing/2014/main" id="{93C9FFAF-F2E8-4FC0-B968-2886D915DB1D}"/>
              </a:ext>
            </a:extLst>
          </p:cNvPr>
          <p:cNvGraphicFramePr>
            <a:graphicFrameLocks/>
          </p:cNvGraphicFramePr>
          <p:nvPr>
            <p:extLst>
              <p:ext uri="{D42A27DB-BD31-4B8C-83A1-F6EECF244321}">
                <p14:modId xmlns:p14="http://schemas.microsoft.com/office/powerpoint/2010/main" val="1242877115"/>
              </p:ext>
            </p:extLst>
          </p:nvPr>
        </p:nvGraphicFramePr>
        <p:xfrm>
          <a:off x="1195754" y="1714501"/>
          <a:ext cx="9242474" cy="31338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0001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7836A0-57DC-4F59-9CC2-FF3330B571F8}"/>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B7CFE7DB-6473-4698-9F58-06BCBC7BDAC2}"/>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A684E7A1-8D59-4F6B-918F-9E308C2FA821}"/>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Credit-card ownership barely changes the churn rate</a:t>
            </a:r>
          </a:p>
        </p:txBody>
      </p:sp>
      <p:sp>
        <p:nvSpPr>
          <p:cNvPr id="4" name="Rectangle 3">
            <a:extLst>
              <a:ext uri="{FF2B5EF4-FFF2-40B4-BE49-F238E27FC236}">
                <a16:creationId xmlns:a16="http://schemas.microsoft.com/office/drawing/2014/main" id="{7187C1CE-9A59-4B1B-8883-30C31CAFF012}"/>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96DBB95D-3A1F-4729-86F1-AF3995512874}"/>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13</a:t>
            </a:r>
          </a:p>
        </p:txBody>
      </p:sp>
      <p:sp>
        <p:nvSpPr>
          <p:cNvPr id="7" name="Rectangle: Rounded Corners 6">
            <a:extLst>
              <a:ext uri="{FF2B5EF4-FFF2-40B4-BE49-F238E27FC236}">
                <a16:creationId xmlns:a16="http://schemas.microsoft.com/office/drawing/2014/main" id="{108E4A07-C996-4915-877D-EF85515A19F8}"/>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9A10690C-2B3A-40FF-9008-8243A7931CAC}"/>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A048F5AE-4E60-4080-8984-F41340AA606C}"/>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Customers with cards churn at 20.18% compared with 20.81% among customers without cards—a difference of only 0.63 points. Card ownership is therefore a weak retention indicator in this dataset.</a:t>
            </a:r>
          </a:p>
        </p:txBody>
      </p:sp>
      <p:graphicFrame>
        <p:nvGraphicFramePr>
          <p:cNvPr id="11" name="Chart 10">
            <a:extLst>
              <a:ext uri="{FF2B5EF4-FFF2-40B4-BE49-F238E27FC236}">
                <a16:creationId xmlns:a16="http://schemas.microsoft.com/office/drawing/2014/main" id="{304B8C4A-7901-4510-8B72-D907CE0A2CC7}"/>
              </a:ext>
            </a:extLst>
          </p:cNvPr>
          <p:cNvGraphicFramePr>
            <a:graphicFrameLocks/>
          </p:cNvGraphicFramePr>
          <p:nvPr>
            <p:extLst>
              <p:ext uri="{D42A27DB-BD31-4B8C-83A1-F6EECF244321}">
                <p14:modId xmlns:p14="http://schemas.microsoft.com/office/powerpoint/2010/main" val="868115276"/>
              </p:ext>
            </p:extLst>
          </p:nvPr>
        </p:nvGraphicFramePr>
        <p:xfrm>
          <a:off x="1181687" y="1463626"/>
          <a:ext cx="7638756" cy="360645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27726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03E1A3-0C3C-4520-BA0F-A1E6BA8C8EDB}"/>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879B5360-AE4D-4AA0-8903-0A9C24B939B0}"/>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EDEC892C-862F-40C9-B7AF-BC1375130CBE}"/>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New customers churn slightly more than long-term customers</a:t>
            </a:r>
          </a:p>
        </p:txBody>
      </p:sp>
      <p:sp>
        <p:nvSpPr>
          <p:cNvPr id="4" name="Rectangle 3">
            <a:extLst>
              <a:ext uri="{FF2B5EF4-FFF2-40B4-BE49-F238E27FC236}">
                <a16:creationId xmlns:a16="http://schemas.microsoft.com/office/drawing/2014/main" id="{7A17D389-D411-4F7A-A7C7-C107A5FFA97D}"/>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D5BAE8C5-83D2-49A6-848F-D1C6AEA3D899}"/>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14</a:t>
            </a:r>
          </a:p>
        </p:txBody>
      </p:sp>
      <p:sp>
        <p:nvSpPr>
          <p:cNvPr id="7" name="Rectangle: Rounded Corners 6">
            <a:extLst>
              <a:ext uri="{FF2B5EF4-FFF2-40B4-BE49-F238E27FC236}">
                <a16:creationId xmlns:a16="http://schemas.microsoft.com/office/drawing/2014/main" id="{5FA6CE8C-9D36-4B7E-B9DB-4959BECD04EA}"/>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39C8B937-1FD7-4BED-BFAE-532A99CE2006}"/>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51953B6A-54D2-4720-8DE2-6A0D841F6BB4}"/>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New customers record 21.15% churn, compared with 19.67% among long-term customers. The improvement is small, showing that onboarding matters but does not explain the major churn differences found elsewhere.</a:t>
            </a:r>
          </a:p>
        </p:txBody>
      </p:sp>
      <p:graphicFrame>
        <p:nvGraphicFramePr>
          <p:cNvPr id="11" name="Chart 10">
            <a:extLst>
              <a:ext uri="{FF2B5EF4-FFF2-40B4-BE49-F238E27FC236}">
                <a16:creationId xmlns:a16="http://schemas.microsoft.com/office/drawing/2014/main" id="{10C6A117-0829-4E99-9000-B024AAD7F944}"/>
              </a:ext>
            </a:extLst>
          </p:cNvPr>
          <p:cNvGraphicFramePr>
            <a:graphicFrameLocks/>
          </p:cNvGraphicFramePr>
          <p:nvPr>
            <p:extLst>
              <p:ext uri="{D42A27DB-BD31-4B8C-83A1-F6EECF244321}">
                <p14:modId xmlns:p14="http://schemas.microsoft.com/office/powerpoint/2010/main" val="1645424420"/>
              </p:ext>
            </p:extLst>
          </p:nvPr>
        </p:nvGraphicFramePr>
        <p:xfrm>
          <a:off x="800100" y="1538361"/>
          <a:ext cx="9638127" cy="31884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89029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2213D6-E450-444A-924E-D8DB5F60E93D}"/>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6D371401-1FC8-447D-8442-47DC47ED367A}"/>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GTBANK CUSTOMER CHURN ANALYSIS</a:t>
            </a:r>
          </a:p>
        </p:txBody>
      </p:sp>
      <p:sp>
        <p:nvSpPr>
          <p:cNvPr id="3" name="Rectangle 2">
            <a:extLst>
              <a:ext uri="{FF2B5EF4-FFF2-40B4-BE49-F238E27FC236}">
                <a16:creationId xmlns:a16="http://schemas.microsoft.com/office/drawing/2014/main" id="{461D74CB-A195-41F3-AB9C-97813B72627F}"/>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Age, inactivity and product strain define the highest risk</a:t>
            </a:r>
          </a:p>
        </p:txBody>
      </p:sp>
      <p:sp>
        <p:nvSpPr>
          <p:cNvPr id="4" name="Rectangle 3">
            <a:extLst>
              <a:ext uri="{FF2B5EF4-FFF2-40B4-BE49-F238E27FC236}">
                <a16:creationId xmlns:a16="http://schemas.microsoft.com/office/drawing/2014/main" id="{E914DC1B-E447-4677-9DA4-0AC47790095D}"/>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089BD7C0-14AC-4E59-A752-A98F2E721D91}"/>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15</a:t>
            </a:r>
          </a:p>
        </p:txBody>
      </p:sp>
      <p:sp>
        <p:nvSpPr>
          <p:cNvPr id="7" name="Rectangle: Rounded Corners 6">
            <a:extLst>
              <a:ext uri="{FF2B5EF4-FFF2-40B4-BE49-F238E27FC236}">
                <a16:creationId xmlns:a16="http://schemas.microsoft.com/office/drawing/2014/main" id="{07DF9F0A-8C57-4924-9F5C-4837A590D9D2}"/>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8" name="Rectangle 7">
            <a:extLst>
              <a:ext uri="{FF2B5EF4-FFF2-40B4-BE49-F238E27FC236}">
                <a16:creationId xmlns:a16="http://schemas.microsoft.com/office/drawing/2014/main" id="{E9E646D5-F45D-44C0-8375-3D4927671716}"/>
              </a:ext>
            </a:extLst>
          </p:cNvPr>
          <p:cNvSpPr>
            <a:spLocks noGrp="1"/>
          </p:cNvSpPr>
          <p:nvPr/>
        </p:nvSpPr>
        <p:spPr>
          <a:xfrm>
            <a:off x="552450" y="5143500"/>
            <a:ext cx="76200" cy="1066800"/>
          </a:xfrm>
          <a:prstGeom prst="rect">
            <a:avLst/>
          </a:prstGeom>
          <a:solidFill>
            <a:srgbClr val="F26A21"/>
          </a:solidFill>
          <a:ln w="0">
            <a:noFill/>
            <a:prstDash val="solid"/>
          </a:ln>
        </p:spPr>
      </p:sp>
      <p:sp>
        <p:nvSpPr>
          <p:cNvPr id="9" name="Rectangle 8">
            <a:extLst>
              <a:ext uri="{FF2B5EF4-FFF2-40B4-BE49-F238E27FC236}">
                <a16:creationId xmlns:a16="http://schemas.microsoft.com/office/drawing/2014/main" id="{7BE2D5AE-5628-4361-A08A-30C7DEAC9C7A}"/>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The combined comparison makes the priorities clear: product overload and middle age are the largest rate gaps, followed by inactivity, one-product ownership and female churn. These factors should guide customer review, but multivariable analysis is needed to identify overlapping effects.</a:t>
            </a:r>
          </a:p>
        </p:txBody>
      </p:sp>
      <p:graphicFrame>
        <p:nvGraphicFramePr>
          <p:cNvPr id="11" name="Chart 10">
            <a:extLst>
              <a:ext uri="{FF2B5EF4-FFF2-40B4-BE49-F238E27FC236}">
                <a16:creationId xmlns:a16="http://schemas.microsoft.com/office/drawing/2014/main" id="{15C99D48-83EC-47CA-9D25-3E400062C6EB}"/>
              </a:ext>
            </a:extLst>
          </p:cNvPr>
          <p:cNvGraphicFramePr>
            <a:graphicFrameLocks/>
          </p:cNvGraphicFramePr>
          <p:nvPr>
            <p:extLst>
              <p:ext uri="{D42A27DB-BD31-4B8C-83A1-F6EECF244321}">
                <p14:modId xmlns:p14="http://schemas.microsoft.com/office/powerpoint/2010/main" val="109004452"/>
              </p:ext>
            </p:extLst>
          </p:nvPr>
        </p:nvGraphicFramePr>
        <p:xfrm>
          <a:off x="800100" y="1534185"/>
          <a:ext cx="9328638" cy="326223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18085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00792FD-CF67-448F-9D26-E98D69BBA3AA}"/>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08FAF420-52D5-4B33-BFE9-EFBDF2BBCCF0}"/>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lang="en-US" sz="1050" b="1">
                <a:solidFill>
                  <a:srgbClr val="F26A21"/>
                </a:solidFill>
              </a:rPr>
              <a:t>INSIGHT</a:t>
            </a:r>
            <a:endParaRPr sz="1050" b="1">
              <a:solidFill>
                <a:srgbClr val="F26A21"/>
              </a:solidFill>
            </a:endParaRPr>
          </a:p>
        </p:txBody>
      </p:sp>
      <p:sp>
        <p:nvSpPr>
          <p:cNvPr id="3" name="Rectangle 2">
            <a:extLst>
              <a:ext uri="{FF2B5EF4-FFF2-40B4-BE49-F238E27FC236}">
                <a16:creationId xmlns:a16="http://schemas.microsoft.com/office/drawing/2014/main" id="{4A9B7334-E795-4057-9B93-7EB49CA8F876}"/>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Seven findings define the retention challenge</a:t>
            </a:r>
          </a:p>
        </p:txBody>
      </p:sp>
      <p:sp>
        <p:nvSpPr>
          <p:cNvPr id="4" name="Rectangle 3">
            <a:extLst>
              <a:ext uri="{FF2B5EF4-FFF2-40B4-BE49-F238E27FC236}">
                <a16:creationId xmlns:a16="http://schemas.microsoft.com/office/drawing/2014/main" id="{E6F7F395-462C-4BF4-8B8A-808FEACB2318}"/>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41031294-140C-4185-868D-7031D6BA7440}"/>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16</a:t>
            </a:r>
          </a:p>
        </p:txBody>
      </p:sp>
      <p:sp>
        <p:nvSpPr>
          <p:cNvPr id="6" name="Rectangle: Rounded Corners 5">
            <a:extLst>
              <a:ext uri="{FF2B5EF4-FFF2-40B4-BE49-F238E27FC236}">
                <a16:creationId xmlns:a16="http://schemas.microsoft.com/office/drawing/2014/main" id="{B55B17FB-4266-47C9-847A-0E6D55FD1AB3}"/>
              </a:ext>
            </a:extLst>
          </p:cNvPr>
          <p:cNvSpPr>
            <a:spLocks noGrp="1"/>
          </p:cNvSpPr>
          <p:nvPr/>
        </p:nvSpPr>
        <p:spPr>
          <a:xfrm>
            <a:off x="666750" y="1504950"/>
            <a:ext cx="5095875" cy="685800"/>
          </a:xfrm>
          <a:prstGeom prst="roundRect">
            <a:avLst>
              <a:gd name="adj" fmla="val 11111"/>
            </a:avLst>
          </a:prstGeom>
          <a:solidFill>
            <a:srgbClr val="FFF4EC"/>
          </a:solidFill>
          <a:ln w="9525">
            <a:solidFill>
              <a:srgbClr val="F26A21"/>
            </a:solidFill>
            <a:prstDash val="solid"/>
          </a:ln>
        </p:spPr>
      </p:sp>
      <p:sp>
        <p:nvSpPr>
          <p:cNvPr id="7" name="Rectangle 6">
            <a:extLst>
              <a:ext uri="{FF2B5EF4-FFF2-40B4-BE49-F238E27FC236}">
                <a16:creationId xmlns:a16="http://schemas.microsoft.com/office/drawing/2014/main" id="{C30B2D04-D42E-4BB4-B5CA-15AC314DD830}"/>
              </a:ext>
            </a:extLst>
          </p:cNvPr>
          <p:cNvSpPr>
            <a:spLocks noGrp="1"/>
          </p:cNvSpPr>
          <p:nvPr/>
        </p:nvSpPr>
        <p:spPr>
          <a:xfrm>
            <a:off x="838200" y="1638300"/>
            <a:ext cx="4762500" cy="476250"/>
          </a:xfrm>
          <a:prstGeom prst="rect">
            <a:avLst/>
          </a:prstGeom>
          <a:noFill/>
          <a:ln w="0">
            <a:noFill/>
            <a:prstDash val="solid"/>
          </a:ln>
        </p:spPr>
        <p:txBody>
          <a:bodyPr/>
          <a:lstStyle/>
          <a:p>
            <a:pPr algn="l">
              <a:defRPr sz="1500" b="1">
                <a:solidFill>
                  <a:srgbClr val="050505"/>
                </a:solidFill>
              </a:defRPr>
            </a:pPr>
            <a:r>
              <a:rPr sz="1500" b="1">
                <a:solidFill>
                  <a:srgbClr val="050505"/>
                </a:solidFill>
              </a:rPr>
              <a:t>1. Overall churn is 20.37%, representing 2,037 customers.</a:t>
            </a:r>
          </a:p>
        </p:txBody>
      </p:sp>
      <p:sp>
        <p:nvSpPr>
          <p:cNvPr id="8" name="Rectangle: Rounded Corners 7">
            <a:extLst>
              <a:ext uri="{FF2B5EF4-FFF2-40B4-BE49-F238E27FC236}">
                <a16:creationId xmlns:a16="http://schemas.microsoft.com/office/drawing/2014/main" id="{617BF1F9-492C-4C34-82F4-F839278FBC87}"/>
              </a:ext>
            </a:extLst>
          </p:cNvPr>
          <p:cNvSpPr>
            <a:spLocks noGrp="1"/>
          </p:cNvSpPr>
          <p:nvPr/>
        </p:nvSpPr>
        <p:spPr>
          <a:xfrm>
            <a:off x="666750" y="2381250"/>
            <a:ext cx="5095875" cy="685800"/>
          </a:xfrm>
          <a:prstGeom prst="roundRect">
            <a:avLst>
              <a:gd name="adj" fmla="val 11111"/>
            </a:avLst>
          </a:prstGeom>
          <a:solidFill>
            <a:srgbClr val="FFFFFF"/>
          </a:solidFill>
          <a:ln w="9525">
            <a:solidFill>
              <a:srgbClr val="E5E5E5"/>
            </a:solidFill>
            <a:prstDash val="solid"/>
          </a:ln>
        </p:spPr>
      </p:sp>
      <p:sp>
        <p:nvSpPr>
          <p:cNvPr id="9" name="Rectangle 8">
            <a:extLst>
              <a:ext uri="{FF2B5EF4-FFF2-40B4-BE49-F238E27FC236}">
                <a16:creationId xmlns:a16="http://schemas.microsoft.com/office/drawing/2014/main" id="{442C3858-136D-4771-914D-2FB9ABA8BBF1}"/>
              </a:ext>
            </a:extLst>
          </p:cNvPr>
          <p:cNvSpPr>
            <a:spLocks noGrp="1"/>
          </p:cNvSpPr>
          <p:nvPr/>
        </p:nvSpPr>
        <p:spPr>
          <a:xfrm>
            <a:off x="838200" y="25146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2. Middle-aged customers reach a 49.45% churn rate.</a:t>
            </a:r>
          </a:p>
        </p:txBody>
      </p:sp>
      <p:sp>
        <p:nvSpPr>
          <p:cNvPr id="10" name="Rectangle: Rounded Corners 9">
            <a:extLst>
              <a:ext uri="{FF2B5EF4-FFF2-40B4-BE49-F238E27FC236}">
                <a16:creationId xmlns:a16="http://schemas.microsoft.com/office/drawing/2014/main" id="{941C4D2F-2F6B-4A14-A140-57709D9B3A1D}"/>
              </a:ext>
            </a:extLst>
          </p:cNvPr>
          <p:cNvSpPr>
            <a:spLocks noGrp="1"/>
          </p:cNvSpPr>
          <p:nvPr/>
        </p:nvSpPr>
        <p:spPr>
          <a:xfrm>
            <a:off x="666750" y="3257550"/>
            <a:ext cx="5095875" cy="685800"/>
          </a:xfrm>
          <a:prstGeom prst="roundRect">
            <a:avLst>
              <a:gd name="adj" fmla="val 11111"/>
            </a:avLst>
          </a:prstGeom>
          <a:solidFill>
            <a:srgbClr val="FFFFFF"/>
          </a:solidFill>
          <a:ln w="9525">
            <a:solidFill>
              <a:srgbClr val="E5E5E5"/>
            </a:solidFill>
            <a:prstDash val="solid"/>
          </a:ln>
        </p:spPr>
      </p:sp>
      <p:sp>
        <p:nvSpPr>
          <p:cNvPr id="11" name="Rectangle 10">
            <a:extLst>
              <a:ext uri="{FF2B5EF4-FFF2-40B4-BE49-F238E27FC236}">
                <a16:creationId xmlns:a16="http://schemas.microsoft.com/office/drawing/2014/main" id="{F72FF080-68C3-4D44-8F91-7F332E38461B}"/>
              </a:ext>
            </a:extLst>
          </p:cNvPr>
          <p:cNvSpPr>
            <a:spLocks noGrp="1"/>
          </p:cNvSpPr>
          <p:nvPr/>
        </p:nvSpPr>
        <p:spPr>
          <a:xfrm>
            <a:off x="838200" y="33909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3. Inactive members churn almost twice as often as active members.</a:t>
            </a:r>
          </a:p>
        </p:txBody>
      </p:sp>
      <p:sp>
        <p:nvSpPr>
          <p:cNvPr id="12" name="Rectangle: Rounded Corners 11">
            <a:extLst>
              <a:ext uri="{FF2B5EF4-FFF2-40B4-BE49-F238E27FC236}">
                <a16:creationId xmlns:a16="http://schemas.microsoft.com/office/drawing/2014/main" id="{E3E93487-3673-42CB-8CC0-40329F79BE0C}"/>
              </a:ext>
            </a:extLst>
          </p:cNvPr>
          <p:cNvSpPr>
            <a:spLocks noGrp="1"/>
          </p:cNvSpPr>
          <p:nvPr/>
        </p:nvSpPr>
        <p:spPr>
          <a:xfrm>
            <a:off x="666750" y="4133850"/>
            <a:ext cx="5095875" cy="685800"/>
          </a:xfrm>
          <a:prstGeom prst="roundRect">
            <a:avLst>
              <a:gd name="adj" fmla="val 11111"/>
            </a:avLst>
          </a:prstGeom>
          <a:solidFill>
            <a:srgbClr val="FFFFFF"/>
          </a:solidFill>
          <a:ln w="9525">
            <a:solidFill>
              <a:srgbClr val="E5E5E5"/>
            </a:solidFill>
            <a:prstDash val="solid"/>
          </a:ln>
        </p:spPr>
      </p:sp>
      <p:sp>
        <p:nvSpPr>
          <p:cNvPr id="13" name="Rectangle 12">
            <a:extLst>
              <a:ext uri="{FF2B5EF4-FFF2-40B4-BE49-F238E27FC236}">
                <a16:creationId xmlns:a16="http://schemas.microsoft.com/office/drawing/2014/main" id="{5A985F1F-6FBD-4170-9194-6C5BB916BCB2}"/>
              </a:ext>
            </a:extLst>
          </p:cNvPr>
          <p:cNvSpPr>
            <a:spLocks noGrp="1"/>
          </p:cNvSpPr>
          <p:nvPr/>
        </p:nvSpPr>
        <p:spPr>
          <a:xfrm>
            <a:off x="838200" y="42672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4. Two products are linked with the strongest retention.</a:t>
            </a:r>
          </a:p>
        </p:txBody>
      </p:sp>
      <p:sp>
        <p:nvSpPr>
          <p:cNvPr id="14" name="Rectangle: Rounded Corners 13">
            <a:extLst>
              <a:ext uri="{FF2B5EF4-FFF2-40B4-BE49-F238E27FC236}">
                <a16:creationId xmlns:a16="http://schemas.microsoft.com/office/drawing/2014/main" id="{B59F8CA8-A987-4801-9B9B-DB7713A1DBDD}"/>
              </a:ext>
            </a:extLst>
          </p:cNvPr>
          <p:cNvSpPr>
            <a:spLocks noGrp="1"/>
          </p:cNvSpPr>
          <p:nvPr/>
        </p:nvSpPr>
        <p:spPr>
          <a:xfrm>
            <a:off x="6238875" y="1504950"/>
            <a:ext cx="5095875" cy="685800"/>
          </a:xfrm>
          <a:prstGeom prst="roundRect">
            <a:avLst>
              <a:gd name="adj" fmla="val 11111"/>
            </a:avLst>
          </a:prstGeom>
          <a:solidFill>
            <a:srgbClr val="FFFFFF"/>
          </a:solidFill>
          <a:ln w="9525">
            <a:solidFill>
              <a:srgbClr val="E5E5E5"/>
            </a:solidFill>
            <a:prstDash val="solid"/>
          </a:ln>
        </p:spPr>
      </p:sp>
      <p:sp>
        <p:nvSpPr>
          <p:cNvPr id="15" name="Rectangle 14">
            <a:extLst>
              <a:ext uri="{FF2B5EF4-FFF2-40B4-BE49-F238E27FC236}">
                <a16:creationId xmlns:a16="http://schemas.microsoft.com/office/drawing/2014/main" id="{05CD6A1A-5276-4920-9D29-931E360AFF06}"/>
              </a:ext>
            </a:extLst>
          </p:cNvPr>
          <p:cNvSpPr>
            <a:spLocks noGrp="1"/>
          </p:cNvSpPr>
          <p:nvPr/>
        </p:nvSpPr>
        <p:spPr>
          <a:xfrm>
            <a:off x="6410325" y="16383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5. Three- and four-product customers show extreme churn.</a:t>
            </a:r>
          </a:p>
        </p:txBody>
      </p:sp>
      <p:sp>
        <p:nvSpPr>
          <p:cNvPr id="16" name="Rectangle: Rounded Corners 15">
            <a:extLst>
              <a:ext uri="{FF2B5EF4-FFF2-40B4-BE49-F238E27FC236}">
                <a16:creationId xmlns:a16="http://schemas.microsoft.com/office/drawing/2014/main" id="{719CDEA4-CD38-4C94-8E71-C682C22C1CB6}"/>
              </a:ext>
            </a:extLst>
          </p:cNvPr>
          <p:cNvSpPr>
            <a:spLocks noGrp="1"/>
          </p:cNvSpPr>
          <p:nvPr/>
        </p:nvSpPr>
        <p:spPr>
          <a:xfrm>
            <a:off x="6238875" y="2381250"/>
            <a:ext cx="5095875" cy="685800"/>
          </a:xfrm>
          <a:prstGeom prst="roundRect">
            <a:avLst>
              <a:gd name="adj" fmla="val 11111"/>
            </a:avLst>
          </a:prstGeom>
          <a:solidFill>
            <a:srgbClr val="FFFFFF"/>
          </a:solidFill>
          <a:ln w="9525">
            <a:solidFill>
              <a:srgbClr val="E5E5E5"/>
            </a:solidFill>
            <a:prstDash val="solid"/>
          </a:ln>
        </p:spPr>
      </p:sp>
      <p:sp>
        <p:nvSpPr>
          <p:cNvPr id="17" name="Rectangle 16">
            <a:extLst>
              <a:ext uri="{FF2B5EF4-FFF2-40B4-BE49-F238E27FC236}">
                <a16:creationId xmlns:a16="http://schemas.microsoft.com/office/drawing/2014/main" id="{E158946D-D62D-4A8A-A584-8349538FE69D}"/>
              </a:ext>
            </a:extLst>
          </p:cNvPr>
          <p:cNvSpPr>
            <a:spLocks noGrp="1"/>
          </p:cNvSpPr>
          <p:nvPr/>
        </p:nvSpPr>
        <p:spPr>
          <a:xfrm>
            <a:off x="6410325" y="25146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6. Female churn exceeds male churn by 8.61 percentage points.</a:t>
            </a:r>
          </a:p>
        </p:txBody>
      </p:sp>
      <p:sp>
        <p:nvSpPr>
          <p:cNvPr id="18" name="Rectangle: Rounded Corners 17">
            <a:extLst>
              <a:ext uri="{FF2B5EF4-FFF2-40B4-BE49-F238E27FC236}">
                <a16:creationId xmlns:a16="http://schemas.microsoft.com/office/drawing/2014/main" id="{7AC2F8DF-C2FA-4ACF-AFE0-916E2F2C6C39}"/>
              </a:ext>
            </a:extLst>
          </p:cNvPr>
          <p:cNvSpPr>
            <a:spLocks noGrp="1"/>
          </p:cNvSpPr>
          <p:nvPr/>
        </p:nvSpPr>
        <p:spPr>
          <a:xfrm>
            <a:off x="6238875" y="3257550"/>
            <a:ext cx="5095875" cy="685800"/>
          </a:xfrm>
          <a:prstGeom prst="roundRect">
            <a:avLst>
              <a:gd name="adj" fmla="val 11111"/>
            </a:avLst>
          </a:prstGeom>
          <a:solidFill>
            <a:srgbClr val="FFFFFF"/>
          </a:solidFill>
          <a:ln w="9525">
            <a:solidFill>
              <a:srgbClr val="E5E5E5"/>
            </a:solidFill>
            <a:prstDash val="solid"/>
          </a:ln>
        </p:spPr>
      </p:sp>
      <p:sp>
        <p:nvSpPr>
          <p:cNvPr id="19" name="Rectangle 18">
            <a:extLst>
              <a:ext uri="{FF2B5EF4-FFF2-40B4-BE49-F238E27FC236}">
                <a16:creationId xmlns:a16="http://schemas.microsoft.com/office/drawing/2014/main" id="{A5FE2094-A4C5-47BA-BDB0-AE27C280E2FF}"/>
              </a:ext>
            </a:extLst>
          </p:cNvPr>
          <p:cNvSpPr>
            <a:spLocks noGrp="1"/>
          </p:cNvSpPr>
          <p:nvPr/>
        </p:nvSpPr>
        <p:spPr>
          <a:xfrm>
            <a:off x="6410325" y="3390900"/>
            <a:ext cx="4762500" cy="476250"/>
          </a:xfrm>
          <a:prstGeom prst="rect">
            <a:avLst/>
          </a:prstGeom>
          <a:noFill/>
          <a:ln w="0">
            <a:noFill/>
            <a:prstDash val="solid"/>
          </a:ln>
        </p:spPr>
        <p:txBody>
          <a:bodyPr/>
          <a:lstStyle/>
          <a:p>
            <a:pPr algn="l">
              <a:defRPr sz="1500" b="0">
                <a:solidFill>
                  <a:srgbClr val="050505"/>
                </a:solidFill>
              </a:defRPr>
            </a:pPr>
            <a:r>
              <a:rPr sz="1500" b="0">
                <a:solidFill>
                  <a:srgbClr val="050505"/>
                </a:solidFill>
              </a:rPr>
              <a:t>7. Location, tenure and credit-card differences are comparatively weak.</a:t>
            </a:r>
          </a:p>
        </p:txBody>
      </p:sp>
    </p:spTree>
    <p:extLst>
      <p:ext uri="{BB962C8B-B14F-4D97-AF65-F5344CB8AC3E}">
        <p14:creationId xmlns:p14="http://schemas.microsoft.com/office/powerpoint/2010/main" val="1793640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88449E4-7722-4284-A875-25D69AC2D5E1}"/>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63959EC1-86BE-47D9-9E35-3953B949B72F}"/>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lang="en-US" sz="1050" b="1" dirty="0">
                <a:solidFill>
                  <a:srgbClr val="F26A21"/>
                </a:solidFill>
              </a:rPr>
              <a:t>RECOMMENDATION</a:t>
            </a:r>
            <a:endParaRPr sz="1050" b="1" dirty="0">
              <a:solidFill>
                <a:srgbClr val="F26A21"/>
              </a:solidFill>
            </a:endParaRPr>
          </a:p>
        </p:txBody>
      </p:sp>
      <p:sp>
        <p:nvSpPr>
          <p:cNvPr id="3" name="Rectangle 2">
            <a:extLst>
              <a:ext uri="{FF2B5EF4-FFF2-40B4-BE49-F238E27FC236}">
                <a16:creationId xmlns:a16="http://schemas.microsoft.com/office/drawing/2014/main" id="{6C174810-E5B1-4AC5-A771-DD51BEC7EC45}"/>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Act first on engagement and high-risk customer groups</a:t>
            </a:r>
          </a:p>
        </p:txBody>
      </p:sp>
      <p:sp>
        <p:nvSpPr>
          <p:cNvPr id="4" name="Rectangle 3">
            <a:extLst>
              <a:ext uri="{FF2B5EF4-FFF2-40B4-BE49-F238E27FC236}">
                <a16:creationId xmlns:a16="http://schemas.microsoft.com/office/drawing/2014/main" id="{045678AF-7C6A-4A29-A562-E20CBE480689}"/>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68F6BE5A-07B8-422D-ABE5-D5F9454FCF17}"/>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17</a:t>
            </a:r>
          </a:p>
        </p:txBody>
      </p:sp>
      <p:sp>
        <p:nvSpPr>
          <p:cNvPr id="6" name="Rectangle 5">
            <a:extLst>
              <a:ext uri="{FF2B5EF4-FFF2-40B4-BE49-F238E27FC236}">
                <a16:creationId xmlns:a16="http://schemas.microsoft.com/office/drawing/2014/main" id="{1A75BC24-8A00-4D73-9778-B358D6B2002B}"/>
              </a:ext>
            </a:extLst>
          </p:cNvPr>
          <p:cNvSpPr>
            <a:spLocks noGrp="1"/>
          </p:cNvSpPr>
          <p:nvPr/>
        </p:nvSpPr>
        <p:spPr>
          <a:xfrm>
            <a:off x="704850" y="1476375"/>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01</a:t>
            </a:r>
          </a:p>
        </p:txBody>
      </p:sp>
      <p:sp>
        <p:nvSpPr>
          <p:cNvPr id="7" name="Rectangle 6">
            <a:extLst>
              <a:ext uri="{FF2B5EF4-FFF2-40B4-BE49-F238E27FC236}">
                <a16:creationId xmlns:a16="http://schemas.microsoft.com/office/drawing/2014/main" id="{A730A332-04E3-4F09-BA30-818C3D331AF1}"/>
              </a:ext>
            </a:extLst>
          </p:cNvPr>
          <p:cNvSpPr>
            <a:spLocks noGrp="1"/>
          </p:cNvSpPr>
          <p:nvPr/>
        </p:nvSpPr>
        <p:spPr>
          <a:xfrm>
            <a:off x="1333500" y="1476375"/>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Create inactivity alerts</a:t>
            </a:r>
          </a:p>
        </p:txBody>
      </p:sp>
      <p:sp>
        <p:nvSpPr>
          <p:cNvPr id="8" name="Rectangle 7">
            <a:extLst>
              <a:ext uri="{FF2B5EF4-FFF2-40B4-BE49-F238E27FC236}">
                <a16:creationId xmlns:a16="http://schemas.microsoft.com/office/drawing/2014/main" id="{13D08AEE-CC17-4151-92FF-62E28E6E1348}"/>
              </a:ext>
            </a:extLst>
          </p:cNvPr>
          <p:cNvSpPr>
            <a:spLocks noGrp="1"/>
          </p:cNvSpPr>
          <p:nvPr/>
        </p:nvSpPr>
        <p:spPr>
          <a:xfrm>
            <a:off x="4667250" y="1476375"/>
            <a:ext cx="6572250" cy="590550"/>
          </a:xfrm>
          <a:prstGeom prst="rect">
            <a:avLst/>
          </a:prstGeom>
          <a:noFill/>
          <a:ln w="0">
            <a:noFill/>
            <a:prstDash val="solid"/>
          </a:ln>
        </p:spPr>
        <p:txBody>
          <a:bodyPr/>
          <a:lstStyle/>
          <a:p>
            <a:pPr algn="l">
              <a:defRPr sz="1500" b="0">
                <a:solidFill>
                  <a:srgbClr val="60646C"/>
                </a:solidFill>
              </a:defRPr>
            </a:pPr>
            <a:r>
              <a:rPr sz="1500" b="0" dirty="0">
                <a:solidFill>
                  <a:schemeClr val="tx1">
                    <a:lumMod val="95000"/>
                    <a:lumOff val="5000"/>
                  </a:schemeClr>
                </a:solidFill>
              </a:rPr>
              <a:t>Trigger outreach when transactions or digital activity decline over a defined period.</a:t>
            </a:r>
          </a:p>
        </p:txBody>
      </p:sp>
      <p:sp>
        <p:nvSpPr>
          <p:cNvPr id="9" name="Rectangle 8">
            <a:extLst>
              <a:ext uri="{FF2B5EF4-FFF2-40B4-BE49-F238E27FC236}">
                <a16:creationId xmlns:a16="http://schemas.microsoft.com/office/drawing/2014/main" id="{139F9369-38B0-4322-9F02-81D4E7C6A322}"/>
              </a:ext>
            </a:extLst>
          </p:cNvPr>
          <p:cNvSpPr>
            <a:spLocks noGrp="1"/>
          </p:cNvSpPr>
          <p:nvPr/>
        </p:nvSpPr>
        <p:spPr>
          <a:xfrm>
            <a:off x="704850" y="2200275"/>
            <a:ext cx="10477500" cy="9525"/>
          </a:xfrm>
          <a:prstGeom prst="rect">
            <a:avLst/>
          </a:prstGeom>
          <a:solidFill>
            <a:srgbClr val="E5E5E5"/>
          </a:solidFill>
          <a:ln w="0">
            <a:noFill/>
            <a:prstDash val="solid"/>
          </a:ln>
        </p:spPr>
      </p:sp>
      <p:sp>
        <p:nvSpPr>
          <p:cNvPr id="10" name="Rectangle 9">
            <a:extLst>
              <a:ext uri="{FF2B5EF4-FFF2-40B4-BE49-F238E27FC236}">
                <a16:creationId xmlns:a16="http://schemas.microsoft.com/office/drawing/2014/main" id="{8FC05698-BC35-42F7-BCE8-4AE19366C362}"/>
              </a:ext>
            </a:extLst>
          </p:cNvPr>
          <p:cNvSpPr>
            <a:spLocks noGrp="1"/>
          </p:cNvSpPr>
          <p:nvPr/>
        </p:nvSpPr>
        <p:spPr>
          <a:xfrm>
            <a:off x="704850" y="2409825"/>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02</a:t>
            </a:r>
          </a:p>
        </p:txBody>
      </p:sp>
      <p:sp>
        <p:nvSpPr>
          <p:cNvPr id="11" name="Rectangle 10">
            <a:extLst>
              <a:ext uri="{FF2B5EF4-FFF2-40B4-BE49-F238E27FC236}">
                <a16:creationId xmlns:a16="http://schemas.microsoft.com/office/drawing/2014/main" id="{F70A36B0-F6EC-405F-BBC8-CE79E6B626FE}"/>
              </a:ext>
            </a:extLst>
          </p:cNvPr>
          <p:cNvSpPr>
            <a:spLocks noGrp="1"/>
          </p:cNvSpPr>
          <p:nvPr/>
        </p:nvSpPr>
        <p:spPr>
          <a:xfrm>
            <a:off x="1333500" y="2409825"/>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Review product-heavy accounts</a:t>
            </a:r>
          </a:p>
        </p:txBody>
      </p:sp>
      <p:sp>
        <p:nvSpPr>
          <p:cNvPr id="12" name="Rectangle 11">
            <a:extLst>
              <a:ext uri="{FF2B5EF4-FFF2-40B4-BE49-F238E27FC236}">
                <a16:creationId xmlns:a16="http://schemas.microsoft.com/office/drawing/2014/main" id="{9C477D22-28FA-4C30-A6F5-154449B7A410}"/>
              </a:ext>
            </a:extLst>
          </p:cNvPr>
          <p:cNvSpPr>
            <a:spLocks noGrp="1"/>
          </p:cNvSpPr>
          <p:nvPr/>
        </p:nvSpPr>
        <p:spPr>
          <a:xfrm>
            <a:off x="4667250" y="2409825"/>
            <a:ext cx="6572250" cy="590550"/>
          </a:xfrm>
          <a:prstGeom prst="rect">
            <a:avLst/>
          </a:prstGeom>
          <a:noFill/>
          <a:ln w="0">
            <a:noFill/>
            <a:prstDash val="solid"/>
          </a:ln>
        </p:spPr>
        <p:txBody>
          <a:bodyPr/>
          <a:lstStyle/>
          <a:p>
            <a:pPr algn="l">
              <a:defRPr sz="1500" b="0">
                <a:solidFill>
                  <a:srgbClr val="60646C"/>
                </a:solidFill>
              </a:defRPr>
            </a:pPr>
            <a:r>
              <a:rPr sz="1500" b="0" dirty="0">
                <a:solidFill>
                  <a:schemeClr val="tx1">
                    <a:lumMod val="95000"/>
                    <a:lumOff val="5000"/>
                  </a:schemeClr>
                </a:solidFill>
              </a:rPr>
              <a:t>Contact three- and four-product customers to check suitability, fees and service problems.</a:t>
            </a:r>
          </a:p>
        </p:txBody>
      </p:sp>
      <p:sp>
        <p:nvSpPr>
          <p:cNvPr id="13" name="Rectangle 12">
            <a:extLst>
              <a:ext uri="{FF2B5EF4-FFF2-40B4-BE49-F238E27FC236}">
                <a16:creationId xmlns:a16="http://schemas.microsoft.com/office/drawing/2014/main" id="{20516C52-E23B-4589-88C9-497F72D89E58}"/>
              </a:ext>
            </a:extLst>
          </p:cNvPr>
          <p:cNvSpPr>
            <a:spLocks noGrp="1"/>
          </p:cNvSpPr>
          <p:nvPr/>
        </p:nvSpPr>
        <p:spPr>
          <a:xfrm>
            <a:off x="704850" y="3133725"/>
            <a:ext cx="10477500" cy="9525"/>
          </a:xfrm>
          <a:prstGeom prst="rect">
            <a:avLst/>
          </a:prstGeom>
          <a:solidFill>
            <a:srgbClr val="E5E5E5"/>
          </a:solidFill>
          <a:ln w="0">
            <a:noFill/>
            <a:prstDash val="solid"/>
          </a:ln>
        </p:spPr>
      </p:sp>
      <p:sp>
        <p:nvSpPr>
          <p:cNvPr id="14" name="Rectangle 13">
            <a:extLst>
              <a:ext uri="{FF2B5EF4-FFF2-40B4-BE49-F238E27FC236}">
                <a16:creationId xmlns:a16="http://schemas.microsoft.com/office/drawing/2014/main" id="{9C43A342-A95A-4507-8970-E294636457C8}"/>
              </a:ext>
            </a:extLst>
          </p:cNvPr>
          <p:cNvSpPr>
            <a:spLocks noGrp="1"/>
          </p:cNvSpPr>
          <p:nvPr/>
        </p:nvSpPr>
        <p:spPr>
          <a:xfrm>
            <a:off x="704850" y="3343275"/>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03</a:t>
            </a:r>
          </a:p>
        </p:txBody>
      </p:sp>
      <p:sp>
        <p:nvSpPr>
          <p:cNvPr id="15" name="Rectangle 14">
            <a:extLst>
              <a:ext uri="{FF2B5EF4-FFF2-40B4-BE49-F238E27FC236}">
                <a16:creationId xmlns:a16="http://schemas.microsoft.com/office/drawing/2014/main" id="{568136E1-AE20-4EFF-B6D9-537818E9CD08}"/>
              </a:ext>
            </a:extLst>
          </p:cNvPr>
          <p:cNvSpPr>
            <a:spLocks noGrp="1"/>
          </p:cNvSpPr>
          <p:nvPr/>
        </p:nvSpPr>
        <p:spPr>
          <a:xfrm>
            <a:off x="1333500" y="3343275"/>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Build life-stage retention</a:t>
            </a:r>
          </a:p>
        </p:txBody>
      </p:sp>
      <p:sp>
        <p:nvSpPr>
          <p:cNvPr id="16" name="Rectangle 15">
            <a:extLst>
              <a:ext uri="{FF2B5EF4-FFF2-40B4-BE49-F238E27FC236}">
                <a16:creationId xmlns:a16="http://schemas.microsoft.com/office/drawing/2014/main" id="{CFCC352F-9B4B-4CA8-8439-34D98BE6E24D}"/>
              </a:ext>
            </a:extLst>
          </p:cNvPr>
          <p:cNvSpPr>
            <a:spLocks noGrp="1"/>
          </p:cNvSpPr>
          <p:nvPr/>
        </p:nvSpPr>
        <p:spPr>
          <a:xfrm>
            <a:off x="4667250" y="3343275"/>
            <a:ext cx="6572250" cy="590550"/>
          </a:xfrm>
          <a:prstGeom prst="rect">
            <a:avLst/>
          </a:prstGeom>
          <a:noFill/>
          <a:ln w="0">
            <a:noFill/>
            <a:prstDash val="solid"/>
          </a:ln>
        </p:spPr>
        <p:txBody>
          <a:bodyPr/>
          <a:lstStyle/>
          <a:p>
            <a:pPr algn="l">
              <a:defRPr sz="1500" b="0">
                <a:solidFill>
                  <a:srgbClr val="60646C"/>
                </a:solidFill>
              </a:defRPr>
            </a:pPr>
            <a:r>
              <a:rPr sz="1500" b="0" dirty="0">
                <a:solidFill>
                  <a:schemeClr val="tx1">
                    <a:lumMod val="95000"/>
                    <a:lumOff val="5000"/>
                  </a:schemeClr>
                </a:solidFill>
              </a:rPr>
              <a:t>Design tailored reviews for middle-aged and senior customers before renewal or attrition.</a:t>
            </a:r>
          </a:p>
        </p:txBody>
      </p:sp>
      <p:sp>
        <p:nvSpPr>
          <p:cNvPr id="17" name="Rectangle 16">
            <a:extLst>
              <a:ext uri="{FF2B5EF4-FFF2-40B4-BE49-F238E27FC236}">
                <a16:creationId xmlns:a16="http://schemas.microsoft.com/office/drawing/2014/main" id="{76648F69-D2EA-43C2-8A51-522737B3DB5A}"/>
              </a:ext>
            </a:extLst>
          </p:cNvPr>
          <p:cNvSpPr>
            <a:spLocks noGrp="1"/>
          </p:cNvSpPr>
          <p:nvPr/>
        </p:nvSpPr>
        <p:spPr>
          <a:xfrm>
            <a:off x="704850" y="4067175"/>
            <a:ext cx="10477500" cy="9525"/>
          </a:xfrm>
          <a:prstGeom prst="rect">
            <a:avLst/>
          </a:prstGeom>
          <a:solidFill>
            <a:srgbClr val="E5E5E5"/>
          </a:solidFill>
          <a:ln w="0">
            <a:noFill/>
            <a:prstDash val="solid"/>
          </a:ln>
        </p:spPr>
      </p:sp>
      <p:sp>
        <p:nvSpPr>
          <p:cNvPr id="18" name="Rectangle 17">
            <a:extLst>
              <a:ext uri="{FF2B5EF4-FFF2-40B4-BE49-F238E27FC236}">
                <a16:creationId xmlns:a16="http://schemas.microsoft.com/office/drawing/2014/main" id="{FE988C58-87A5-4366-BE76-7AA0D0FE738F}"/>
              </a:ext>
            </a:extLst>
          </p:cNvPr>
          <p:cNvSpPr>
            <a:spLocks noGrp="1"/>
          </p:cNvSpPr>
          <p:nvPr/>
        </p:nvSpPr>
        <p:spPr>
          <a:xfrm>
            <a:off x="704850" y="4276725"/>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04</a:t>
            </a:r>
          </a:p>
        </p:txBody>
      </p:sp>
      <p:sp>
        <p:nvSpPr>
          <p:cNvPr id="19" name="Rectangle 18">
            <a:extLst>
              <a:ext uri="{FF2B5EF4-FFF2-40B4-BE49-F238E27FC236}">
                <a16:creationId xmlns:a16="http://schemas.microsoft.com/office/drawing/2014/main" id="{068EFCB4-BCEA-4C27-8606-8CD8C8EFE6F1}"/>
              </a:ext>
            </a:extLst>
          </p:cNvPr>
          <p:cNvSpPr>
            <a:spLocks noGrp="1"/>
          </p:cNvSpPr>
          <p:nvPr/>
        </p:nvSpPr>
        <p:spPr>
          <a:xfrm>
            <a:off x="1333500" y="4276725"/>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Investigate the gender gap</a:t>
            </a:r>
          </a:p>
        </p:txBody>
      </p:sp>
      <p:sp>
        <p:nvSpPr>
          <p:cNvPr id="20" name="Rectangle 19">
            <a:extLst>
              <a:ext uri="{FF2B5EF4-FFF2-40B4-BE49-F238E27FC236}">
                <a16:creationId xmlns:a16="http://schemas.microsoft.com/office/drawing/2014/main" id="{49F89B0A-D732-4EC3-91FB-35F8C77B33A8}"/>
              </a:ext>
            </a:extLst>
          </p:cNvPr>
          <p:cNvSpPr>
            <a:spLocks noGrp="1"/>
          </p:cNvSpPr>
          <p:nvPr/>
        </p:nvSpPr>
        <p:spPr>
          <a:xfrm>
            <a:off x="4667250" y="4276725"/>
            <a:ext cx="6572250" cy="590550"/>
          </a:xfrm>
          <a:prstGeom prst="rect">
            <a:avLst/>
          </a:prstGeom>
          <a:noFill/>
          <a:ln w="0">
            <a:noFill/>
            <a:prstDash val="solid"/>
          </a:ln>
        </p:spPr>
        <p:txBody>
          <a:bodyPr/>
          <a:lstStyle/>
          <a:p>
            <a:pPr algn="l">
              <a:defRPr sz="1500" b="0">
                <a:solidFill>
                  <a:srgbClr val="60646C"/>
                </a:solidFill>
              </a:defRPr>
            </a:pPr>
            <a:r>
              <a:rPr sz="1500" b="0" dirty="0">
                <a:solidFill>
                  <a:schemeClr val="tx1">
                    <a:lumMod val="95000"/>
                    <a:lumOff val="5000"/>
                  </a:schemeClr>
                </a:solidFill>
              </a:rPr>
              <a:t>Compare complaints, channel use, product mix and service outcomes for women and men.</a:t>
            </a:r>
          </a:p>
        </p:txBody>
      </p:sp>
      <p:sp>
        <p:nvSpPr>
          <p:cNvPr id="21" name="Rectangle 20">
            <a:extLst>
              <a:ext uri="{FF2B5EF4-FFF2-40B4-BE49-F238E27FC236}">
                <a16:creationId xmlns:a16="http://schemas.microsoft.com/office/drawing/2014/main" id="{2D9728BF-1CE3-4D47-B063-1A5135254D00}"/>
              </a:ext>
            </a:extLst>
          </p:cNvPr>
          <p:cNvSpPr>
            <a:spLocks noGrp="1"/>
          </p:cNvSpPr>
          <p:nvPr/>
        </p:nvSpPr>
        <p:spPr>
          <a:xfrm>
            <a:off x="704850" y="5000625"/>
            <a:ext cx="10477500" cy="9525"/>
          </a:xfrm>
          <a:prstGeom prst="rect">
            <a:avLst/>
          </a:prstGeom>
          <a:solidFill>
            <a:srgbClr val="E5E5E5"/>
          </a:solidFill>
          <a:ln w="0">
            <a:noFill/>
            <a:prstDash val="solid"/>
          </a:ln>
        </p:spPr>
      </p:sp>
      <p:sp>
        <p:nvSpPr>
          <p:cNvPr id="22" name="Rectangle: Rounded Corners 21">
            <a:extLst>
              <a:ext uri="{FF2B5EF4-FFF2-40B4-BE49-F238E27FC236}">
                <a16:creationId xmlns:a16="http://schemas.microsoft.com/office/drawing/2014/main" id="{D4278E0B-37B9-47AE-ACF8-F52640F0C98B}"/>
              </a:ext>
            </a:extLst>
          </p:cNvPr>
          <p:cNvSpPr>
            <a:spLocks noGrp="1"/>
          </p:cNvSpPr>
          <p:nvPr/>
        </p:nvSpPr>
        <p:spPr>
          <a:xfrm>
            <a:off x="552450" y="5143500"/>
            <a:ext cx="11087100" cy="1066800"/>
          </a:xfrm>
          <a:prstGeom prst="roundRect">
            <a:avLst>
              <a:gd name="adj" fmla="val 7143"/>
            </a:avLst>
          </a:prstGeom>
          <a:solidFill>
            <a:srgbClr val="FFF4EC"/>
          </a:solidFill>
          <a:ln w="0">
            <a:noFill/>
            <a:prstDash val="solid"/>
          </a:ln>
        </p:spPr>
      </p:sp>
      <p:sp>
        <p:nvSpPr>
          <p:cNvPr id="23" name="Rectangle 22">
            <a:extLst>
              <a:ext uri="{FF2B5EF4-FFF2-40B4-BE49-F238E27FC236}">
                <a16:creationId xmlns:a16="http://schemas.microsoft.com/office/drawing/2014/main" id="{F32B153E-C829-4093-8920-40C9329D3101}"/>
              </a:ext>
            </a:extLst>
          </p:cNvPr>
          <p:cNvSpPr>
            <a:spLocks noGrp="1"/>
          </p:cNvSpPr>
          <p:nvPr/>
        </p:nvSpPr>
        <p:spPr>
          <a:xfrm>
            <a:off x="552450" y="5143500"/>
            <a:ext cx="76200" cy="1066800"/>
          </a:xfrm>
          <a:prstGeom prst="rect">
            <a:avLst/>
          </a:prstGeom>
          <a:solidFill>
            <a:srgbClr val="F26A21"/>
          </a:solidFill>
          <a:ln w="0">
            <a:noFill/>
            <a:prstDash val="solid"/>
          </a:ln>
        </p:spPr>
      </p:sp>
      <p:sp>
        <p:nvSpPr>
          <p:cNvPr id="24" name="Rectangle 23">
            <a:extLst>
              <a:ext uri="{FF2B5EF4-FFF2-40B4-BE49-F238E27FC236}">
                <a16:creationId xmlns:a16="http://schemas.microsoft.com/office/drawing/2014/main" id="{C6055482-25F5-4056-B47B-EDE485DFED3A}"/>
              </a:ext>
            </a:extLst>
          </p:cNvPr>
          <p:cNvSpPr>
            <a:spLocks noGrp="1"/>
          </p:cNvSpPr>
          <p:nvPr/>
        </p:nvSpPr>
        <p:spPr>
          <a:xfrm>
            <a:off x="800100" y="5286375"/>
            <a:ext cx="10572750" cy="781050"/>
          </a:xfrm>
          <a:prstGeom prst="rect">
            <a:avLst/>
          </a:prstGeom>
          <a:noFill/>
          <a:ln w="0">
            <a:noFill/>
            <a:prstDash val="solid"/>
          </a:ln>
        </p:spPr>
        <p:txBody>
          <a:bodyPr/>
          <a:lstStyle/>
          <a:p>
            <a:pPr algn="l">
              <a:defRPr sz="1650" b="0">
                <a:solidFill>
                  <a:srgbClr val="050505"/>
                </a:solidFill>
              </a:defRPr>
            </a:pPr>
            <a:r>
              <a:rPr sz="1650" b="0">
                <a:solidFill>
                  <a:srgbClr val="050505"/>
                </a:solidFill>
              </a:rPr>
              <a:t>The bank should focus retention resources where rate differences are largest. Activity monitoring offers the most immediate operational trigger, while product-heavy and middle-aged groups require more detailed account review.</a:t>
            </a:r>
          </a:p>
        </p:txBody>
      </p:sp>
    </p:spTree>
    <p:extLst>
      <p:ext uri="{BB962C8B-B14F-4D97-AF65-F5344CB8AC3E}">
        <p14:creationId xmlns:p14="http://schemas.microsoft.com/office/powerpoint/2010/main" val="8062390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97320D1-2B01-46BE-A6A6-37DB7F270D86}"/>
              </a:ext>
            </a:extLst>
          </p:cNvPr>
          <p:cNvSpPr>
            <a:spLocks noGrp="1"/>
          </p:cNvSpPr>
          <p:nvPr/>
        </p:nvSpPr>
        <p:spPr>
          <a:xfrm>
            <a:off x="0" y="0"/>
            <a:ext cx="171450" cy="6858000"/>
          </a:xfrm>
          <a:prstGeom prst="rect">
            <a:avLst/>
          </a:prstGeom>
          <a:solidFill>
            <a:srgbClr val="F26A21"/>
          </a:solidFill>
          <a:ln w="0">
            <a:noFill/>
            <a:prstDash val="solid"/>
          </a:ln>
        </p:spPr>
      </p:sp>
      <p:sp>
        <p:nvSpPr>
          <p:cNvPr id="2" name="Rectangle 1">
            <a:extLst>
              <a:ext uri="{FF2B5EF4-FFF2-40B4-BE49-F238E27FC236}">
                <a16:creationId xmlns:a16="http://schemas.microsoft.com/office/drawing/2014/main" id="{5903B517-94B2-4DB3-B32A-A23E9B79747B}"/>
              </a:ext>
            </a:extLst>
          </p:cNvPr>
          <p:cNvSpPr>
            <a:spLocks noGrp="1"/>
          </p:cNvSpPr>
          <p:nvPr/>
        </p:nvSpPr>
        <p:spPr>
          <a:xfrm>
            <a:off x="552450" y="266700"/>
            <a:ext cx="5905500" cy="228600"/>
          </a:xfrm>
          <a:prstGeom prst="rect">
            <a:avLst/>
          </a:prstGeom>
          <a:noFill/>
          <a:ln w="0">
            <a:noFill/>
            <a:prstDash val="solid"/>
          </a:ln>
        </p:spPr>
        <p:txBody>
          <a:bodyPr/>
          <a:lstStyle/>
          <a:p>
            <a:pPr algn="l">
              <a:defRPr sz="1050" b="1">
                <a:solidFill>
                  <a:srgbClr val="F26A21"/>
                </a:solidFill>
              </a:defRPr>
            </a:pPr>
            <a:r>
              <a:rPr sz="1050" b="1">
                <a:solidFill>
                  <a:srgbClr val="F26A21"/>
                </a:solidFill>
              </a:rPr>
              <a:t>NEXT STEPS</a:t>
            </a:r>
          </a:p>
        </p:txBody>
      </p:sp>
      <p:sp>
        <p:nvSpPr>
          <p:cNvPr id="3" name="Rectangle 2">
            <a:extLst>
              <a:ext uri="{FF2B5EF4-FFF2-40B4-BE49-F238E27FC236}">
                <a16:creationId xmlns:a16="http://schemas.microsoft.com/office/drawing/2014/main" id="{DF53C22E-8D73-4C5F-94A7-8684EE297A3F}"/>
              </a:ext>
            </a:extLst>
          </p:cNvPr>
          <p:cNvSpPr>
            <a:spLocks noGrp="1"/>
          </p:cNvSpPr>
          <p:nvPr/>
        </p:nvSpPr>
        <p:spPr>
          <a:xfrm>
            <a:off x="552450" y="552450"/>
            <a:ext cx="10763250" cy="514350"/>
          </a:xfrm>
          <a:prstGeom prst="rect">
            <a:avLst/>
          </a:prstGeom>
          <a:noFill/>
          <a:ln w="0">
            <a:noFill/>
            <a:prstDash val="solid"/>
          </a:ln>
        </p:spPr>
        <p:txBody>
          <a:bodyPr/>
          <a:lstStyle/>
          <a:p>
            <a:pPr algn="l">
              <a:defRPr sz="2700" b="1">
                <a:solidFill>
                  <a:srgbClr val="050505"/>
                </a:solidFill>
              </a:defRPr>
            </a:pPr>
            <a:r>
              <a:rPr sz="2700" b="1">
                <a:solidFill>
                  <a:srgbClr val="050505"/>
                </a:solidFill>
              </a:rPr>
              <a:t>Build retention around early intervention and customer value</a:t>
            </a:r>
          </a:p>
        </p:txBody>
      </p:sp>
      <p:sp>
        <p:nvSpPr>
          <p:cNvPr id="4" name="Rectangle 3">
            <a:extLst>
              <a:ext uri="{FF2B5EF4-FFF2-40B4-BE49-F238E27FC236}">
                <a16:creationId xmlns:a16="http://schemas.microsoft.com/office/drawing/2014/main" id="{9BAEEFC2-9CD6-406E-9D29-D4D886A31BE6}"/>
              </a:ext>
            </a:extLst>
          </p:cNvPr>
          <p:cNvSpPr>
            <a:spLocks noGrp="1"/>
          </p:cNvSpPr>
          <p:nvPr/>
        </p:nvSpPr>
        <p:spPr>
          <a:xfrm>
            <a:off x="552450" y="1171575"/>
            <a:ext cx="11087100" cy="19050"/>
          </a:xfrm>
          <a:prstGeom prst="rect">
            <a:avLst/>
          </a:prstGeom>
          <a:solidFill>
            <a:srgbClr val="F26A21"/>
          </a:solidFill>
          <a:ln w="0">
            <a:noFill/>
            <a:prstDash val="solid"/>
          </a:ln>
        </p:spPr>
      </p:sp>
      <p:sp>
        <p:nvSpPr>
          <p:cNvPr id="5" name="Rectangle 4">
            <a:extLst>
              <a:ext uri="{FF2B5EF4-FFF2-40B4-BE49-F238E27FC236}">
                <a16:creationId xmlns:a16="http://schemas.microsoft.com/office/drawing/2014/main" id="{EAC70D09-0F1B-45C2-95EA-A45DC2D7053E}"/>
              </a:ext>
            </a:extLst>
          </p:cNvPr>
          <p:cNvSpPr>
            <a:spLocks noGrp="1"/>
          </p:cNvSpPr>
          <p:nvPr/>
        </p:nvSpPr>
        <p:spPr>
          <a:xfrm>
            <a:off x="11125200" y="6343650"/>
            <a:ext cx="514350" cy="209550"/>
          </a:xfrm>
          <a:prstGeom prst="rect">
            <a:avLst/>
          </a:prstGeom>
          <a:noFill/>
          <a:ln w="0">
            <a:noFill/>
            <a:prstDash val="solid"/>
          </a:ln>
        </p:spPr>
        <p:txBody>
          <a:bodyPr/>
          <a:lstStyle/>
          <a:p>
            <a:pPr algn="r">
              <a:defRPr sz="1050" b="1">
                <a:solidFill>
                  <a:srgbClr val="60646C"/>
                </a:solidFill>
              </a:defRPr>
            </a:pPr>
            <a:r>
              <a:rPr sz="1050" b="1">
                <a:solidFill>
                  <a:srgbClr val="60646C"/>
                </a:solidFill>
              </a:rPr>
              <a:t>18</a:t>
            </a:r>
          </a:p>
        </p:txBody>
      </p:sp>
      <p:sp>
        <p:nvSpPr>
          <p:cNvPr id="6" name="Rectangle 5">
            <a:extLst>
              <a:ext uri="{FF2B5EF4-FFF2-40B4-BE49-F238E27FC236}">
                <a16:creationId xmlns:a16="http://schemas.microsoft.com/office/drawing/2014/main" id="{583A9C46-ED33-4690-8376-19F2D2D09DAC}"/>
              </a:ext>
            </a:extLst>
          </p:cNvPr>
          <p:cNvSpPr>
            <a:spLocks noGrp="1"/>
          </p:cNvSpPr>
          <p:nvPr/>
        </p:nvSpPr>
        <p:spPr>
          <a:xfrm>
            <a:off x="704850" y="1428750"/>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05</a:t>
            </a:r>
          </a:p>
        </p:txBody>
      </p:sp>
      <p:sp>
        <p:nvSpPr>
          <p:cNvPr id="7" name="Rectangle 6">
            <a:extLst>
              <a:ext uri="{FF2B5EF4-FFF2-40B4-BE49-F238E27FC236}">
                <a16:creationId xmlns:a16="http://schemas.microsoft.com/office/drawing/2014/main" id="{8B6535FB-00E8-4809-AB00-D6463C756AF4}"/>
              </a:ext>
            </a:extLst>
          </p:cNvPr>
          <p:cNvSpPr>
            <a:spLocks noGrp="1"/>
          </p:cNvSpPr>
          <p:nvPr/>
        </p:nvSpPr>
        <p:spPr>
          <a:xfrm>
            <a:off x="1333500" y="1428750"/>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Strengthen onboarding</a:t>
            </a:r>
          </a:p>
        </p:txBody>
      </p:sp>
      <p:sp>
        <p:nvSpPr>
          <p:cNvPr id="8" name="Rectangle 7">
            <a:extLst>
              <a:ext uri="{FF2B5EF4-FFF2-40B4-BE49-F238E27FC236}">
                <a16:creationId xmlns:a16="http://schemas.microsoft.com/office/drawing/2014/main" id="{86D062BF-C941-408E-AE6F-71F3681C9154}"/>
              </a:ext>
            </a:extLst>
          </p:cNvPr>
          <p:cNvSpPr>
            <a:spLocks noGrp="1"/>
          </p:cNvSpPr>
          <p:nvPr/>
        </p:nvSpPr>
        <p:spPr>
          <a:xfrm>
            <a:off x="4667250" y="1428750"/>
            <a:ext cx="6572250" cy="590550"/>
          </a:xfrm>
          <a:prstGeom prst="rect">
            <a:avLst/>
          </a:prstGeom>
          <a:noFill/>
          <a:ln w="0">
            <a:noFill/>
            <a:prstDash val="solid"/>
          </a:ln>
        </p:spPr>
        <p:txBody>
          <a:bodyPr/>
          <a:lstStyle/>
          <a:p>
            <a:pPr algn="l">
              <a:defRPr sz="1500" b="0">
                <a:solidFill>
                  <a:srgbClr val="60646C"/>
                </a:solidFill>
              </a:defRPr>
            </a:pPr>
            <a:r>
              <a:rPr sz="1500" b="0">
                <a:solidFill>
                  <a:srgbClr val="60646C"/>
                </a:solidFill>
              </a:rPr>
              <a:t>Use the first two years to establish regular product use and clear service support.</a:t>
            </a:r>
          </a:p>
        </p:txBody>
      </p:sp>
      <p:sp>
        <p:nvSpPr>
          <p:cNvPr id="9" name="Rectangle 8">
            <a:extLst>
              <a:ext uri="{FF2B5EF4-FFF2-40B4-BE49-F238E27FC236}">
                <a16:creationId xmlns:a16="http://schemas.microsoft.com/office/drawing/2014/main" id="{91BB1025-E0B6-40B4-BCFF-CE8EB45C6A8C}"/>
              </a:ext>
            </a:extLst>
          </p:cNvPr>
          <p:cNvSpPr>
            <a:spLocks noGrp="1"/>
          </p:cNvSpPr>
          <p:nvPr/>
        </p:nvSpPr>
        <p:spPr>
          <a:xfrm>
            <a:off x="704850" y="2114550"/>
            <a:ext cx="10477500" cy="9525"/>
          </a:xfrm>
          <a:prstGeom prst="rect">
            <a:avLst/>
          </a:prstGeom>
          <a:solidFill>
            <a:srgbClr val="E5E5E5"/>
          </a:solidFill>
          <a:ln w="0">
            <a:noFill/>
            <a:prstDash val="solid"/>
          </a:ln>
        </p:spPr>
      </p:sp>
      <p:sp>
        <p:nvSpPr>
          <p:cNvPr id="10" name="Rectangle 9">
            <a:extLst>
              <a:ext uri="{FF2B5EF4-FFF2-40B4-BE49-F238E27FC236}">
                <a16:creationId xmlns:a16="http://schemas.microsoft.com/office/drawing/2014/main" id="{9E7BE364-7D9A-4E58-AB42-6D7EA0FFDA2E}"/>
              </a:ext>
            </a:extLst>
          </p:cNvPr>
          <p:cNvSpPr>
            <a:spLocks noGrp="1"/>
          </p:cNvSpPr>
          <p:nvPr/>
        </p:nvSpPr>
        <p:spPr>
          <a:xfrm>
            <a:off x="704850" y="2305050"/>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06</a:t>
            </a:r>
          </a:p>
        </p:txBody>
      </p:sp>
      <p:sp>
        <p:nvSpPr>
          <p:cNvPr id="11" name="Rectangle 10">
            <a:extLst>
              <a:ext uri="{FF2B5EF4-FFF2-40B4-BE49-F238E27FC236}">
                <a16:creationId xmlns:a16="http://schemas.microsoft.com/office/drawing/2014/main" id="{3342CBB0-3994-43A0-AC75-E3E6DF27EF43}"/>
              </a:ext>
            </a:extLst>
          </p:cNvPr>
          <p:cNvSpPr>
            <a:spLocks noGrp="1"/>
          </p:cNvSpPr>
          <p:nvPr/>
        </p:nvSpPr>
        <p:spPr>
          <a:xfrm>
            <a:off x="1333500" y="2305050"/>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Protect valuable balances</a:t>
            </a:r>
          </a:p>
        </p:txBody>
      </p:sp>
      <p:sp>
        <p:nvSpPr>
          <p:cNvPr id="12" name="Rectangle 11">
            <a:extLst>
              <a:ext uri="{FF2B5EF4-FFF2-40B4-BE49-F238E27FC236}">
                <a16:creationId xmlns:a16="http://schemas.microsoft.com/office/drawing/2014/main" id="{18D4DE7A-4965-4FC7-97D6-274CA3AC3D06}"/>
              </a:ext>
            </a:extLst>
          </p:cNvPr>
          <p:cNvSpPr>
            <a:spLocks noGrp="1"/>
          </p:cNvSpPr>
          <p:nvPr/>
        </p:nvSpPr>
        <p:spPr>
          <a:xfrm>
            <a:off x="4667250" y="2305050"/>
            <a:ext cx="6572250" cy="590550"/>
          </a:xfrm>
          <a:prstGeom prst="rect">
            <a:avLst/>
          </a:prstGeom>
          <a:noFill/>
          <a:ln w="0">
            <a:noFill/>
            <a:prstDash val="solid"/>
          </a:ln>
        </p:spPr>
        <p:txBody>
          <a:bodyPr/>
          <a:lstStyle/>
          <a:p>
            <a:pPr algn="l">
              <a:defRPr sz="1500" b="0">
                <a:solidFill>
                  <a:srgbClr val="60646C"/>
                </a:solidFill>
              </a:defRPr>
            </a:pPr>
            <a:r>
              <a:rPr sz="1500" b="0">
                <a:solidFill>
                  <a:srgbClr val="60646C"/>
                </a:solidFill>
              </a:rPr>
              <a:t>Create proactive reviews for customers in high-balance bands before warning signs intensify.</a:t>
            </a:r>
          </a:p>
        </p:txBody>
      </p:sp>
      <p:sp>
        <p:nvSpPr>
          <p:cNvPr id="13" name="Rectangle 12">
            <a:extLst>
              <a:ext uri="{FF2B5EF4-FFF2-40B4-BE49-F238E27FC236}">
                <a16:creationId xmlns:a16="http://schemas.microsoft.com/office/drawing/2014/main" id="{5B305C78-88F7-4C94-80F5-124D5B20AB6A}"/>
              </a:ext>
            </a:extLst>
          </p:cNvPr>
          <p:cNvSpPr>
            <a:spLocks noGrp="1"/>
          </p:cNvSpPr>
          <p:nvPr/>
        </p:nvSpPr>
        <p:spPr>
          <a:xfrm>
            <a:off x="704850" y="2990850"/>
            <a:ext cx="10477500" cy="9525"/>
          </a:xfrm>
          <a:prstGeom prst="rect">
            <a:avLst/>
          </a:prstGeom>
          <a:solidFill>
            <a:srgbClr val="E5E5E5"/>
          </a:solidFill>
          <a:ln w="0">
            <a:noFill/>
            <a:prstDash val="solid"/>
          </a:ln>
        </p:spPr>
      </p:sp>
      <p:sp>
        <p:nvSpPr>
          <p:cNvPr id="14" name="Rectangle 13">
            <a:extLst>
              <a:ext uri="{FF2B5EF4-FFF2-40B4-BE49-F238E27FC236}">
                <a16:creationId xmlns:a16="http://schemas.microsoft.com/office/drawing/2014/main" id="{ADD5CB3C-D4F1-4F12-886A-24554EEFD05F}"/>
              </a:ext>
            </a:extLst>
          </p:cNvPr>
          <p:cNvSpPr>
            <a:spLocks noGrp="1"/>
          </p:cNvSpPr>
          <p:nvPr/>
        </p:nvSpPr>
        <p:spPr>
          <a:xfrm>
            <a:off x="704850" y="3181350"/>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07</a:t>
            </a:r>
          </a:p>
        </p:txBody>
      </p:sp>
      <p:sp>
        <p:nvSpPr>
          <p:cNvPr id="15" name="Rectangle 14">
            <a:extLst>
              <a:ext uri="{FF2B5EF4-FFF2-40B4-BE49-F238E27FC236}">
                <a16:creationId xmlns:a16="http://schemas.microsoft.com/office/drawing/2014/main" id="{072ECED8-5D67-4509-B8DE-81442A9EED76}"/>
              </a:ext>
            </a:extLst>
          </p:cNvPr>
          <p:cNvSpPr>
            <a:spLocks noGrp="1"/>
          </p:cNvSpPr>
          <p:nvPr/>
        </p:nvSpPr>
        <p:spPr>
          <a:xfrm>
            <a:off x="1333500" y="3181350"/>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Develop a churn model</a:t>
            </a:r>
          </a:p>
        </p:txBody>
      </p:sp>
      <p:sp>
        <p:nvSpPr>
          <p:cNvPr id="16" name="Rectangle 15">
            <a:extLst>
              <a:ext uri="{FF2B5EF4-FFF2-40B4-BE49-F238E27FC236}">
                <a16:creationId xmlns:a16="http://schemas.microsoft.com/office/drawing/2014/main" id="{A31666CA-CF26-45B2-99A5-674DAB150210}"/>
              </a:ext>
            </a:extLst>
          </p:cNvPr>
          <p:cNvSpPr>
            <a:spLocks noGrp="1"/>
          </p:cNvSpPr>
          <p:nvPr/>
        </p:nvSpPr>
        <p:spPr>
          <a:xfrm>
            <a:off x="4667250" y="3181350"/>
            <a:ext cx="6572250" cy="590550"/>
          </a:xfrm>
          <a:prstGeom prst="rect">
            <a:avLst/>
          </a:prstGeom>
          <a:noFill/>
          <a:ln w="0">
            <a:noFill/>
            <a:prstDash val="solid"/>
          </a:ln>
        </p:spPr>
        <p:txBody>
          <a:bodyPr/>
          <a:lstStyle/>
          <a:p>
            <a:pPr algn="l">
              <a:defRPr sz="1500" b="0">
                <a:solidFill>
                  <a:srgbClr val="60646C"/>
                </a:solidFill>
              </a:defRPr>
            </a:pPr>
            <a:r>
              <a:rPr sz="1500" b="0">
                <a:solidFill>
                  <a:srgbClr val="60646C"/>
                </a:solidFill>
              </a:rPr>
              <a:t>Combine age, activity, products, balance and gender to estimate individual risk.</a:t>
            </a:r>
          </a:p>
        </p:txBody>
      </p:sp>
      <p:sp>
        <p:nvSpPr>
          <p:cNvPr id="17" name="Rectangle 16">
            <a:extLst>
              <a:ext uri="{FF2B5EF4-FFF2-40B4-BE49-F238E27FC236}">
                <a16:creationId xmlns:a16="http://schemas.microsoft.com/office/drawing/2014/main" id="{0B11839C-44C5-44C8-B928-D9A8A282710F}"/>
              </a:ext>
            </a:extLst>
          </p:cNvPr>
          <p:cNvSpPr>
            <a:spLocks noGrp="1"/>
          </p:cNvSpPr>
          <p:nvPr/>
        </p:nvSpPr>
        <p:spPr>
          <a:xfrm>
            <a:off x="704850" y="3867150"/>
            <a:ext cx="10477500" cy="9525"/>
          </a:xfrm>
          <a:prstGeom prst="rect">
            <a:avLst/>
          </a:prstGeom>
          <a:solidFill>
            <a:srgbClr val="E5E5E5"/>
          </a:solidFill>
          <a:ln w="0">
            <a:noFill/>
            <a:prstDash val="solid"/>
          </a:ln>
        </p:spPr>
      </p:sp>
      <p:sp>
        <p:nvSpPr>
          <p:cNvPr id="18" name="Rectangle 17">
            <a:extLst>
              <a:ext uri="{FF2B5EF4-FFF2-40B4-BE49-F238E27FC236}">
                <a16:creationId xmlns:a16="http://schemas.microsoft.com/office/drawing/2014/main" id="{BD81779E-0663-4179-8EB9-B53EA42A22E2}"/>
              </a:ext>
            </a:extLst>
          </p:cNvPr>
          <p:cNvSpPr>
            <a:spLocks noGrp="1"/>
          </p:cNvSpPr>
          <p:nvPr/>
        </p:nvSpPr>
        <p:spPr>
          <a:xfrm>
            <a:off x="704850" y="4057650"/>
            <a:ext cx="523875" cy="381000"/>
          </a:xfrm>
          <a:prstGeom prst="rect">
            <a:avLst/>
          </a:prstGeom>
          <a:noFill/>
          <a:ln w="0">
            <a:noFill/>
            <a:prstDash val="solid"/>
          </a:ln>
        </p:spPr>
        <p:txBody>
          <a:bodyPr/>
          <a:lstStyle/>
          <a:p>
            <a:pPr algn="l">
              <a:defRPr sz="1800" b="1">
                <a:solidFill>
                  <a:srgbClr val="F26A21"/>
                </a:solidFill>
              </a:defRPr>
            </a:pPr>
            <a:r>
              <a:rPr sz="1800" b="1">
                <a:solidFill>
                  <a:srgbClr val="F26A21"/>
                </a:solidFill>
              </a:rPr>
              <a:t>08</a:t>
            </a:r>
          </a:p>
        </p:txBody>
      </p:sp>
      <p:sp>
        <p:nvSpPr>
          <p:cNvPr id="19" name="Rectangle 18">
            <a:extLst>
              <a:ext uri="{FF2B5EF4-FFF2-40B4-BE49-F238E27FC236}">
                <a16:creationId xmlns:a16="http://schemas.microsoft.com/office/drawing/2014/main" id="{6E0E08DD-A578-4A17-BE38-E2A1D8F23D47}"/>
              </a:ext>
            </a:extLst>
          </p:cNvPr>
          <p:cNvSpPr>
            <a:spLocks noGrp="1"/>
          </p:cNvSpPr>
          <p:nvPr/>
        </p:nvSpPr>
        <p:spPr>
          <a:xfrm>
            <a:off x="1333500" y="4057650"/>
            <a:ext cx="3333750" cy="323850"/>
          </a:xfrm>
          <a:prstGeom prst="rect">
            <a:avLst/>
          </a:prstGeom>
          <a:noFill/>
          <a:ln w="0">
            <a:noFill/>
            <a:prstDash val="solid"/>
          </a:ln>
        </p:spPr>
        <p:txBody>
          <a:bodyPr/>
          <a:lstStyle/>
          <a:p>
            <a:pPr algn="l">
              <a:defRPr sz="1650" b="1">
                <a:solidFill>
                  <a:srgbClr val="050505"/>
                </a:solidFill>
              </a:defRPr>
            </a:pPr>
            <a:r>
              <a:rPr sz="1650" b="1">
                <a:solidFill>
                  <a:srgbClr val="050505"/>
                </a:solidFill>
              </a:rPr>
              <a:t>Measure saved relationships</a:t>
            </a:r>
          </a:p>
        </p:txBody>
      </p:sp>
      <p:sp>
        <p:nvSpPr>
          <p:cNvPr id="20" name="Rectangle 19">
            <a:extLst>
              <a:ext uri="{FF2B5EF4-FFF2-40B4-BE49-F238E27FC236}">
                <a16:creationId xmlns:a16="http://schemas.microsoft.com/office/drawing/2014/main" id="{236CF725-8D3B-4B4F-8E8F-08CCF3FA9DF7}"/>
              </a:ext>
            </a:extLst>
          </p:cNvPr>
          <p:cNvSpPr>
            <a:spLocks noGrp="1"/>
          </p:cNvSpPr>
          <p:nvPr/>
        </p:nvSpPr>
        <p:spPr>
          <a:xfrm>
            <a:off x="4667250" y="4057650"/>
            <a:ext cx="6572250" cy="590550"/>
          </a:xfrm>
          <a:prstGeom prst="rect">
            <a:avLst/>
          </a:prstGeom>
          <a:noFill/>
          <a:ln w="0">
            <a:noFill/>
            <a:prstDash val="solid"/>
          </a:ln>
        </p:spPr>
        <p:txBody>
          <a:bodyPr/>
          <a:lstStyle/>
          <a:p>
            <a:pPr algn="l">
              <a:defRPr sz="1500" b="0">
                <a:solidFill>
                  <a:srgbClr val="60646C"/>
                </a:solidFill>
              </a:defRPr>
            </a:pPr>
            <a:r>
              <a:rPr sz="1500" b="0">
                <a:solidFill>
                  <a:srgbClr val="60646C"/>
                </a:solidFill>
              </a:rPr>
              <a:t>Track customers contacted, retained balance, complaints resolved and churn avoided.</a:t>
            </a:r>
          </a:p>
        </p:txBody>
      </p:sp>
      <p:sp>
        <p:nvSpPr>
          <p:cNvPr id="21" name="Rectangle 20">
            <a:extLst>
              <a:ext uri="{FF2B5EF4-FFF2-40B4-BE49-F238E27FC236}">
                <a16:creationId xmlns:a16="http://schemas.microsoft.com/office/drawing/2014/main" id="{A802B0C2-C948-4E0F-A854-277339AFF113}"/>
              </a:ext>
            </a:extLst>
          </p:cNvPr>
          <p:cNvSpPr>
            <a:spLocks noGrp="1"/>
          </p:cNvSpPr>
          <p:nvPr/>
        </p:nvSpPr>
        <p:spPr>
          <a:xfrm>
            <a:off x="704850" y="4743450"/>
            <a:ext cx="10477500" cy="9525"/>
          </a:xfrm>
          <a:prstGeom prst="rect">
            <a:avLst/>
          </a:prstGeom>
          <a:solidFill>
            <a:srgbClr val="E5E5E5"/>
          </a:solidFill>
          <a:ln w="0">
            <a:noFill/>
            <a:prstDash val="solid"/>
          </a:ln>
        </p:spPr>
      </p:sp>
      <p:sp>
        <p:nvSpPr>
          <p:cNvPr id="22" name="Rectangle: Rounded Corners 21">
            <a:extLst>
              <a:ext uri="{FF2B5EF4-FFF2-40B4-BE49-F238E27FC236}">
                <a16:creationId xmlns:a16="http://schemas.microsoft.com/office/drawing/2014/main" id="{54BA7EB3-8DA2-48E3-BEB1-48DF99CD6689}"/>
              </a:ext>
            </a:extLst>
          </p:cNvPr>
          <p:cNvSpPr>
            <a:spLocks noGrp="1"/>
          </p:cNvSpPr>
          <p:nvPr/>
        </p:nvSpPr>
        <p:spPr>
          <a:xfrm>
            <a:off x="704850" y="5238750"/>
            <a:ext cx="10477500" cy="666750"/>
          </a:xfrm>
          <a:prstGeom prst="roundRect">
            <a:avLst>
              <a:gd name="adj" fmla="val 11429"/>
            </a:avLst>
          </a:prstGeom>
          <a:solidFill>
            <a:srgbClr val="050505"/>
          </a:solidFill>
          <a:ln w="0">
            <a:noFill/>
            <a:prstDash val="solid"/>
          </a:ln>
        </p:spPr>
      </p:sp>
      <p:sp>
        <p:nvSpPr>
          <p:cNvPr id="23" name="Rectangle 22">
            <a:extLst>
              <a:ext uri="{FF2B5EF4-FFF2-40B4-BE49-F238E27FC236}">
                <a16:creationId xmlns:a16="http://schemas.microsoft.com/office/drawing/2014/main" id="{0D22CBD2-B164-420D-ADE3-AEE5EC34F37F}"/>
              </a:ext>
            </a:extLst>
          </p:cNvPr>
          <p:cNvSpPr>
            <a:spLocks noGrp="1"/>
          </p:cNvSpPr>
          <p:nvPr/>
        </p:nvSpPr>
        <p:spPr>
          <a:xfrm>
            <a:off x="933450" y="5429250"/>
            <a:ext cx="10001250" cy="323850"/>
          </a:xfrm>
          <a:prstGeom prst="rect">
            <a:avLst/>
          </a:prstGeom>
          <a:noFill/>
          <a:ln w="0">
            <a:noFill/>
            <a:prstDash val="solid"/>
          </a:ln>
        </p:spPr>
        <p:txBody>
          <a:bodyPr/>
          <a:lstStyle/>
          <a:p>
            <a:pPr algn="ctr">
              <a:defRPr sz="1725" b="1">
                <a:solidFill>
                  <a:srgbClr val="FFFFFF"/>
                </a:solidFill>
              </a:defRPr>
            </a:pPr>
            <a:r>
              <a:rPr sz="1725" b="1">
                <a:solidFill>
                  <a:srgbClr val="FFFFFF"/>
                </a:solidFill>
              </a:rPr>
              <a:t>Bottom line: detect disengagement early and intervene before valuable relationships are lost.</a:t>
            </a:r>
          </a:p>
        </p:txBody>
      </p:sp>
    </p:spTree>
    <p:extLst>
      <p:ext uri="{BB962C8B-B14F-4D97-AF65-F5344CB8AC3E}">
        <p14:creationId xmlns:p14="http://schemas.microsoft.com/office/powerpoint/2010/main" val="97823993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1552</Words>
  <Application>Microsoft Office PowerPoint</Application>
  <DocSecurity>0</DocSecurity>
  <PresentationFormat>Widescreen</PresentationFormat>
  <Paragraphs>186</Paragraphs>
  <Slides>18</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7</cp:revision>
  <dcterms:created xsi:type="dcterms:W3CDTF">2026-08-29T03:43:58Z</dcterms:created>
  <dcterms:modified xsi:type="dcterms:W3CDTF">2026-09-01T02:19:36Z</dcterms:modified>
</cp:coreProperties>
</file>